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5" r:id="rId7"/>
    <p:sldId id="266" r:id="rId8"/>
    <p:sldId id="268" r:id="rId9"/>
    <p:sldId id="267" r:id="rId10"/>
    <p:sldId id="270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A067-5AC0-61C8-F24C-8038CA675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B1B66-995B-A4A7-6EB9-9EF35199E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4C2DA-BEFE-00F4-D956-5026E395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C196E-CDC8-FE7C-6D55-4BAA3CFB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0FDA0-A30F-6376-DFEB-5D71410B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7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8BDB-AD46-E770-6102-9A950F6E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6E150-2391-E384-B817-2E6E89920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E3064-5F05-0552-6934-5658A11F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8C13-729E-FCA7-6023-6D6BEFBB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EECBF-48EC-7C2B-23B1-B61F2B1B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4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24B6-137E-311D-B805-1B4B52D5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154DF-E838-512E-D07B-2B2565ADC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4409B-35E8-E3D0-73B7-E08F2FB6C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EB1AF-072A-7019-E427-3CDC96FA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DB29-CE6D-D9BD-F07A-87C59D06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3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283AC-90D6-A9B3-5CCD-63A9DC4A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5052E-16CF-D316-7428-882FBF2E1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FE388-1F29-3335-2179-12430AC9F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DAA4E-9872-36CE-B146-7EF66608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D9F29-1D55-C4E3-5B7E-75607407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991AA-80B6-008B-624E-522242C9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3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521F-D9D9-E467-0346-18E9E034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9102C-1F78-A3C7-53FB-DA037554F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7C5BA-DCDF-2A53-B49D-D86F9BDE1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BC277-CDFC-C626-2A19-D99BF19D0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DDE9F7-CFD1-4EDB-DBF2-D612E17DD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7B692-25C6-CF5D-8A6A-1B512B85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2908FD-1B52-5F32-3770-F5DEEDB1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801BAF-FB4C-C0AB-D447-D966F022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6D94-2AC9-D6DA-758C-ACC82830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5A650-03AA-2980-E975-648098AA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7B54F-65A4-8EA4-10DF-9A6D1B1B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F5B8F-73FC-D398-3E28-1B02F6FC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9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4AA0C-8C17-0761-7006-1893054B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48B0DE-7B7A-4F74-22E1-D1689669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64608-3657-0D4A-A3A6-191B9629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65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68D7-9F19-8402-738B-5109B7CD9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FF2C-0328-F74F-A6C6-EC7CE2428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91634-8CFD-47C7-845C-BAB7E1AA3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52CD1-B345-B7C5-D3CB-CB055366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6837F-DA75-0C1B-D49F-2FDC9626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C8777-141B-2B7B-497B-D5EB0F41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9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E60C-938D-F18B-985B-2B98D6A4E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1350AF-D27D-75D9-0709-DD3ACB2C0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A29E7-1E7B-2990-3128-90F8DDB81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07F00-32E7-8126-5927-D790D991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7BF6D-1EE1-3B1F-BFEF-604A238F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086C4-D4EB-D93D-71AA-22377CF0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62B51-7A71-ED8E-1418-AAFDE2D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E717C-AFC4-45D6-2117-47312042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3DB69-D1A2-14E7-CA5B-E7A64E4EB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F1292-EC39-C4A4-62D0-4EE2AC3A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4AFA-8B4E-0443-9E56-6318C9C3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6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C69961-C6EA-AE98-CE4B-FBD6CA470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7F3C9-343B-002F-5AFD-671B1DFC8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13FDA-74E2-950B-10C6-38BBBBC7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5E55-B1D0-89E1-2AAA-BED28F32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E823-14D2-4094-274A-A0B707DA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7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E21F4-DBFB-91F3-E47E-0341B793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841BC-EBDF-2AB0-8F18-58B749292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64B25-F7BA-8EF5-463B-7FDDF932D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1EDF6-F1A1-3154-C0A1-C3F32D833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39ED7-6907-2F3C-807B-B9BB9CF1A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5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zontaldev.jnj.com/auth/realms/zontal-space/protocol/openid-connect/toke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8.emf"/><Relationship Id="rId7" Type="http://schemas.openxmlformats.org/officeDocument/2006/relationships/image" Target="../media/image1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9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A728-A07C-ACF8-1D0C-5FFD9B64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</a:t>
            </a:r>
            <a:r>
              <a:rPr lang="en-US" dirty="0" err="1"/>
              <a:t>Zontal</a:t>
            </a:r>
            <a:r>
              <a:rPr lang="en-US" dirty="0"/>
              <a:t> Access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038D-B165-BA8E-FF89-25219705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Retrieve </a:t>
            </a:r>
            <a:r>
              <a:rPr lang="en-US" dirty="0" err="1"/>
              <a:t>zontal_access_token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hlinkClick r:id="rId2"/>
              </a:rPr>
              <a:t>https://{{ZONTAL_HOST}}/auth/realms/zontal-space/protocol/openid-connect/token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C98E3-161F-8F93-097E-11B11483B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838" y="3157452"/>
            <a:ext cx="2772162" cy="122889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7ADB351-C21E-FF03-6C80-906381B94431}"/>
              </a:ext>
            </a:extLst>
          </p:cNvPr>
          <p:cNvGrpSpPr/>
          <p:nvPr/>
        </p:nvGrpSpPr>
        <p:grpSpPr>
          <a:xfrm>
            <a:off x="8476647" y="3022557"/>
            <a:ext cx="2877153" cy="1498686"/>
            <a:chOff x="7281459" y="3820293"/>
            <a:chExt cx="2877153" cy="14986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6DE36A-8B3B-CDB0-6770-B70C0444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1187" y="4204398"/>
              <a:ext cx="2867425" cy="11145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A73219C-0C93-7E79-0D4E-1A8072839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81459" y="3820293"/>
              <a:ext cx="1695687" cy="362001"/>
            </a:xfrm>
            <a:prstGeom prst="rect">
              <a:avLst/>
            </a:prstGeom>
          </p:spPr>
        </p:pic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3EB7C8B-D423-011E-678E-7A5B6D308266}"/>
              </a:ext>
            </a:extLst>
          </p:cNvPr>
          <p:cNvSpPr/>
          <p:nvPr/>
        </p:nvSpPr>
        <p:spPr>
          <a:xfrm>
            <a:off x="6912864" y="3479320"/>
            <a:ext cx="978408" cy="484632"/>
          </a:xfrm>
          <a:prstGeom prst="rightArrow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73659C-429B-438D-BE55-1E476A9A6338}"/>
              </a:ext>
            </a:extLst>
          </p:cNvPr>
          <p:cNvSpPr/>
          <p:nvPr/>
        </p:nvSpPr>
        <p:spPr>
          <a:xfrm>
            <a:off x="8994552" y="3228975"/>
            <a:ext cx="1042416" cy="177687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9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222-BA8A-BDD8-61E9-F6312D8A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Information Packages on </a:t>
            </a:r>
            <a:r>
              <a:rPr lang="en-US" dirty="0" err="1"/>
              <a:t>Zontal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116D5-D257-1A80-135D-06D10BD40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0463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https://{{ZONTAL_HOST}}/api/search/informationPackages/</a:t>
            </a:r>
          </a:p>
          <a:p>
            <a:r>
              <a:rPr lang="en-US" dirty="0"/>
              <a:t>1 or more sample names: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"filter": 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</a:t>
            </a:r>
            <a:r>
              <a:rPr lang="en-US" dirty="0" err="1">
                <a:latin typeface="Consolas" panose="020B0609020204030204" pitchFamily="49" charset="0"/>
              </a:rPr>
              <a:t>propertyName</a:t>
            </a:r>
            <a:r>
              <a:rPr lang="en-US" dirty="0">
                <a:latin typeface="Consolas" panose="020B0609020204030204" pitchFamily="49" charset="0"/>
              </a:rPr>
              <a:t>": "</a:t>
            </a:r>
            <a:r>
              <a:rPr lang="en-US" dirty="0" err="1">
                <a:latin typeface="Consolas" panose="020B0609020204030204" pitchFamily="49" charset="0"/>
              </a:rPr>
              <a:t>sampleName</a:t>
            </a:r>
            <a:r>
              <a:rPr lang="en-US" dirty="0">
                <a:latin typeface="Consolas" panose="020B0609020204030204" pitchFamily="49" charset="0"/>
              </a:rPr>
              <a:t>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"value": </a:t>
            </a:r>
            <a:r>
              <a:rPr lang="en-US" b="1" dirty="0">
                <a:latin typeface="Consolas" panose="020B0609020204030204" pitchFamily="49" charset="0"/>
              </a:rPr>
              <a:t>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"QAS4001","QAS3001-b","QAS4001: TI_5599638"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b="1" dirty="0"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</a:t>
            </a:r>
            <a:r>
              <a:rPr lang="en-US" dirty="0" err="1">
                <a:latin typeface="Consolas" panose="020B0609020204030204" pitchFamily="49" charset="0"/>
              </a:rPr>
              <a:t>filterType</a:t>
            </a:r>
            <a:r>
              <a:rPr lang="en-US" dirty="0">
                <a:latin typeface="Consolas" panose="020B0609020204030204" pitchFamily="49" charset="0"/>
              </a:rPr>
              <a:t>": "prefix",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</a:t>
            </a:r>
            <a:r>
              <a:rPr lang="en-US" dirty="0" err="1">
                <a:latin typeface="Consolas" panose="020B0609020204030204" pitchFamily="49" charset="0"/>
              </a:rPr>
              <a:t>caseInsensitive</a:t>
            </a:r>
            <a:r>
              <a:rPr lang="en-US" dirty="0">
                <a:latin typeface="Consolas" panose="020B0609020204030204" pitchFamily="49" charset="0"/>
              </a:rPr>
              <a:t>": true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]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2484A3-704D-4DCA-3D8B-144363E7FB21}"/>
              </a:ext>
            </a:extLst>
          </p:cNvPr>
          <p:cNvSpPr/>
          <p:nvPr/>
        </p:nvSpPr>
        <p:spPr>
          <a:xfrm>
            <a:off x="1847088" y="4672584"/>
            <a:ext cx="2020824" cy="393192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4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0598E1-74B6-95A4-EEDF-FECB1CA81A52}"/>
              </a:ext>
            </a:extLst>
          </p:cNvPr>
          <p:cNvSpPr txBox="1"/>
          <p:nvPr/>
        </p:nvSpPr>
        <p:spPr>
          <a:xfrm>
            <a:off x="285188" y="871701"/>
            <a:ext cx="1162162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"range"</a:t>
            </a:r>
            <a:endParaRPr lang="en-US" dirty="0"/>
          </a:p>
          <a:p>
            <a:r>
              <a:rPr lang="en-US" dirty="0"/>
              <a:t>Used to filter numeric values, timestamps, or date ranges. It typically requires defining bounding criteria such 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gte</a:t>
            </a:r>
            <a:r>
              <a:rPr lang="en-US" dirty="0"/>
              <a:t> (Greater than or equal to)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lte</a:t>
            </a:r>
            <a:r>
              <a:rPr lang="en-US" dirty="0"/>
              <a:t> (Less than or equal to)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gt</a:t>
            </a:r>
            <a:r>
              <a:rPr lang="en-US" dirty="0"/>
              <a:t> (Greater than)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lt</a:t>
            </a:r>
            <a:r>
              <a:rPr lang="en-US" dirty="0"/>
              <a:t> (Less than)</a:t>
            </a:r>
          </a:p>
          <a:p>
            <a:r>
              <a:rPr lang="en-US" b="1" dirty="0"/>
              <a:t>2. "term"</a:t>
            </a:r>
            <a:endParaRPr lang="en-US" dirty="0"/>
          </a:p>
          <a:p>
            <a:r>
              <a:rPr lang="en-US" dirty="0"/>
              <a:t>Distinct from "terms", this filters by a single, exact matching value instead of an array of multiple potential matching terms. It prevents tokenization or text-splitting and is commonly used for exact ID or exact flag matching.</a:t>
            </a:r>
          </a:p>
          <a:p>
            <a:r>
              <a:rPr lang="en-US" b="1" dirty="0"/>
              <a:t>3. "prefix"</a:t>
            </a:r>
            <a:endParaRPr lang="en-US" dirty="0"/>
          </a:p>
          <a:p>
            <a:r>
              <a:rPr lang="en-US" dirty="0"/>
              <a:t>Matches documents that contain a specific field starting with the exact characters provided. For example, applying a prefix filter of </a:t>
            </a:r>
            <a:r>
              <a:rPr lang="en-US" i="1" dirty="0"/>
              <a:t>ana</a:t>
            </a:r>
            <a:r>
              <a:rPr lang="en-US" dirty="0"/>
              <a:t> might return items starting with </a:t>
            </a:r>
            <a:r>
              <a:rPr lang="en-US" i="1" dirty="0"/>
              <a:t>analysis</a:t>
            </a:r>
            <a:r>
              <a:rPr lang="en-US" dirty="0"/>
              <a:t>.</a:t>
            </a:r>
          </a:p>
          <a:p>
            <a:r>
              <a:rPr lang="en-US" b="1" dirty="0"/>
              <a:t>4. "wildcard"</a:t>
            </a:r>
            <a:endParaRPr lang="en-US" dirty="0"/>
          </a:p>
          <a:p>
            <a:r>
              <a:rPr lang="en-US" dirty="0"/>
              <a:t>Allows matching based on pattern constraints. It supports standard operators like * (matches zero or more characters) and ? (matches a single character).</a:t>
            </a:r>
          </a:p>
          <a:p>
            <a:r>
              <a:rPr lang="en-US" b="1" dirty="0"/>
              <a:t>5. "exists"</a:t>
            </a:r>
            <a:endParaRPr lang="en-US" dirty="0"/>
          </a:p>
          <a:p>
            <a:r>
              <a:rPr lang="en-US" dirty="0"/>
              <a:t>Filters data based on whether a particular field contains any valid value or is missing completely. It typically accepts a </a:t>
            </a:r>
            <a:r>
              <a:rPr lang="en-US" dirty="0" err="1"/>
              <a:t>boolean</a:t>
            </a:r>
            <a:r>
              <a:rPr lang="en-US" dirty="0"/>
              <a:t> flag or operates as a standalone check to find entries where a specific metadata attribute is non-null.</a:t>
            </a:r>
          </a:p>
          <a:p>
            <a:r>
              <a:rPr lang="en-US" b="1" dirty="0"/>
              <a:t>6. "match"</a:t>
            </a:r>
            <a:endParaRPr lang="en-US" dirty="0"/>
          </a:p>
          <a:p>
            <a:r>
              <a:rPr lang="en-US" dirty="0"/>
              <a:t>Used for standard full-text search filtering. Unlike exact match options like term, "match" will analyze the input text (such as stripping punctuation, lowercasing, or splitting into keywords) to look for similarities.</a:t>
            </a:r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3217FA-1D34-DA95-3EB0-897F0CA1B2E4}"/>
              </a:ext>
            </a:extLst>
          </p:cNvPr>
          <p:cNvGrpSpPr/>
          <p:nvPr/>
        </p:nvGrpSpPr>
        <p:grpSpPr>
          <a:xfrm>
            <a:off x="285187" y="348481"/>
            <a:ext cx="2907955" cy="523220"/>
            <a:chOff x="285187" y="348481"/>
            <a:chExt cx="2907955" cy="52322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B9615E6-C509-EDB4-B880-C2DBD21007B5}"/>
                </a:ext>
              </a:extLst>
            </p:cNvPr>
            <p:cNvSpPr/>
            <p:nvPr/>
          </p:nvSpPr>
          <p:spPr>
            <a:xfrm>
              <a:off x="332014" y="413495"/>
              <a:ext cx="2640132" cy="393192"/>
            </a:xfrm>
            <a:prstGeom prst="roundRect">
              <a:avLst/>
            </a:prstGeom>
            <a:solidFill>
              <a:srgbClr val="E97132">
                <a:alpha val="25098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72E7CF-FA7F-038E-1E1E-29691C5760E0}"/>
                </a:ext>
              </a:extLst>
            </p:cNvPr>
            <p:cNvSpPr txBox="1"/>
            <p:nvPr/>
          </p:nvSpPr>
          <p:spPr>
            <a:xfrm>
              <a:off x="285187" y="348481"/>
              <a:ext cx="290795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"</a:t>
              </a:r>
              <a:r>
                <a:rPr lang="en-US" sz="2800" dirty="0" err="1">
                  <a:latin typeface="Consolas" panose="020B0609020204030204" pitchFamily="49" charset="0"/>
                </a:rPr>
                <a:t>filterType</a:t>
              </a:r>
              <a:r>
                <a:rPr lang="en-US" sz="2800" dirty="0">
                  <a:latin typeface="Consolas" panose="020B0609020204030204" pitchFamily="49" charset="0"/>
                </a:rPr>
                <a:t>":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428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9ADD6-3991-94D6-AD81-A608C689D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457"/>
            <a:ext cx="5257800" cy="5587999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"size": 25,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"filter": [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lifecycleStatus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    "Submitted",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    "Archived"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"terms"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},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fileName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    "S0995945"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"wildcard"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},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9FD2E6-D8F0-FF1C-F2D5-77E7E1B87E98}"/>
              </a:ext>
            </a:extLst>
          </p:cNvPr>
          <p:cNvSpPr txBox="1">
            <a:spLocks/>
          </p:cNvSpPr>
          <p:nvPr/>
        </p:nvSpPr>
        <p:spPr>
          <a:xfrm>
            <a:off x="6096000" y="899885"/>
            <a:ext cx="5257800" cy="5587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instrumentId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    "IF_NIR"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"terms"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},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informationPackageProfile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    "VNF"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 wildcard 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],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"</a:t>
            </a:r>
            <a:r>
              <a:rPr lang="en-US" sz="1800" dirty="0" err="1"/>
              <a:t>sortField</a:t>
            </a:r>
            <a:r>
              <a:rPr lang="en-US" sz="1800" dirty="0"/>
              <a:t>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"</a:t>
            </a:r>
            <a:r>
              <a:rPr lang="en-US" sz="1800" dirty="0" err="1"/>
              <a:t>createdOn</a:t>
            </a:r>
            <a:r>
              <a:rPr lang="en-US" sz="1800" dirty="0"/>
              <a:t>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],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"</a:t>
            </a:r>
            <a:r>
              <a:rPr lang="en-US" sz="1800" dirty="0" err="1"/>
              <a:t>sortOrder</a:t>
            </a:r>
            <a:r>
              <a:rPr lang="en-US" sz="1800" dirty="0"/>
              <a:t>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"</a:t>
            </a:r>
            <a:r>
              <a:rPr lang="en-US" sz="1800" dirty="0" err="1"/>
              <a:t>asc</a:t>
            </a:r>
            <a:r>
              <a:rPr lang="en-US" sz="1800" dirty="0"/>
              <a:t>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]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}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5A901B8-9134-0D7A-6289-E8E77324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84498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F02E-61BC-EF4A-C6A9-F277F7C0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</a:t>
            </a:r>
            <a:r>
              <a:rPr lang="en-US" dirty="0" err="1"/>
              <a:t>Zontal</a:t>
            </a:r>
            <a:r>
              <a:rPr lang="en-US" dirty="0"/>
              <a:t> - Download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E99DBC-C6DF-E648-1A71-0FFDF8F44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408" y="1825625"/>
            <a:ext cx="7079183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EA527A-BDFD-6C51-BE31-A9097EB24AE3}"/>
              </a:ext>
            </a:extLst>
          </p:cNvPr>
          <p:cNvSpPr txBox="1"/>
          <p:nvPr/>
        </p:nvSpPr>
        <p:spPr>
          <a:xfrm>
            <a:off x="9655629" y="1825625"/>
            <a:ext cx="205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results where file has extension .</a:t>
            </a:r>
            <a:r>
              <a:rPr lang="en-US" dirty="0" err="1"/>
              <a:t>asm</a:t>
            </a:r>
            <a:r>
              <a:rPr lang="en-US" dirty="0"/>
              <a:t> (processed results file with a VNF (vendor neutral format) information package profile.</a:t>
            </a:r>
          </a:p>
        </p:txBody>
      </p:sp>
    </p:spTree>
    <p:extLst>
      <p:ext uri="{BB962C8B-B14F-4D97-AF65-F5344CB8AC3E}">
        <p14:creationId xmlns:p14="http://schemas.microsoft.com/office/powerpoint/2010/main" val="28102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E2A19A-4D10-0564-B3EE-F2A86D89A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514" y="861999"/>
            <a:ext cx="8227278" cy="575494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D96186-AC77-B707-273A-D57B07C4B896}"/>
              </a:ext>
            </a:extLst>
          </p:cNvPr>
          <p:cNvSpPr/>
          <p:nvPr/>
        </p:nvSpPr>
        <p:spPr>
          <a:xfrm>
            <a:off x="6447808" y="1704826"/>
            <a:ext cx="344026" cy="164780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86308E-4E00-B7E0-3848-06CFE6385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53" y="3346229"/>
            <a:ext cx="4094538" cy="3099738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2A1CEE-5AFF-8923-4377-AD5336E84EB4}"/>
              </a:ext>
            </a:extLst>
          </p:cNvPr>
          <p:cNvSpPr/>
          <p:nvPr/>
        </p:nvSpPr>
        <p:spPr>
          <a:xfrm>
            <a:off x="6323442" y="5011964"/>
            <a:ext cx="715432" cy="135334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9BDD8D-0881-2CEE-A28A-01440FE14165}"/>
              </a:ext>
            </a:extLst>
          </p:cNvPr>
          <p:cNvSpPr/>
          <p:nvPr/>
        </p:nvSpPr>
        <p:spPr>
          <a:xfrm>
            <a:off x="6320103" y="5171462"/>
            <a:ext cx="462587" cy="135334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EA7C82-4B75-7589-9E6B-DC851D55182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6619821" y="1869606"/>
            <a:ext cx="1079601" cy="147662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F1795B7-99C0-E688-06DC-97F5246A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874"/>
          </a:xfrm>
        </p:spPr>
        <p:txBody>
          <a:bodyPr>
            <a:normAutofit fontScale="90000"/>
          </a:bodyPr>
          <a:lstStyle/>
          <a:p>
            <a:r>
              <a:rPr lang="en-US" dirty="0"/>
              <a:t>API </a:t>
            </a:r>
            <a:r>
              <a:rPr lang="en-US" dirty="0" err="1"/>
              <a:t>Zontal</a:t>
            </a:r>
            <a:r>
              <a:rPr lang="en-US" dirty="0"/>
              <a:t> – Download – Identifier &amp; Title Lookup</a:t>
            </a:r>
          </a:p>
        </p:txBody>
      </p:sp>
    </p:spTree>
    <p:extLst>
      <p:ext uri="{BB962C8B-B14F-4D97-AF65-F5344CB8AC3E}">
        <p14:creationId xmlns:p14="http://schemas.microsoft.com/office/powerpoint/2010/main" val="427709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C3B2B-58C6-EE23-7088-3832B30DB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090" y="862000"/>
            <a:ext cx="9593014" cy="375337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BC04992-3B8C-3D6D-A56D-41E5F618F3E7}"/>
              </a:ext>
            </a:extLst>
          </p:cNvPr>
          <p:cNvSpPr/>
          <p:nvPr/>
        </p:nvSpPr>
        <p:spPr>
          <a:xfrm>
            <a:off x="10204315" y="2898843"/>
            <a:ext cx="978408" cy="484632"/>
          </a:xfrm>
          <a:prstGeom prst="rightArrow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97132"/>
                </a:solidFill>
              </a:rPr>
              <a:t>UNZIP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874"/>
          </a:xfrm>
        </p:spPr>
        <p:txBody>
          <a:bodyPr>
            <a:normAutofit fontScale="90000"/>
          </a:bodyPr>
          <a:lstStyle/>
          <a:p>
            <a:r>
              <a:rPr lang="en-US" dirty="0"/>
              <a:t>API </a:t>
            </a:r>
            <a:r>
              <a:rPr lang="en-US" dirty="0" err="1"/>
              <a:t>Zontal</a:t>
            </a:r>
            <a:r>
              <a:rPr lang="en-US" dirty="0"/>
              <a:t> – Download &amp; Unzip</a:t>
            </a:r>
          </a:p>
        </p:txBody>
      </p:sp>
    </p:spTree>
    <p:extLst>
      <p:ext uri="{BB962C8B-B14F-4D97-AF65-F5344CB8AC3E}">
        <p14:creationId xmlns:p14="http://schemas.microsoft.com/office/powerpoint/2010/main" val="331326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E2BB29-D8FE-3929-834F-36FEB1C5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$</a:t>
            </a:r>
            <a:r>
              <a:rPr lang="en-US" dirty="0" err="1"/>
              <a:t>asm.manifest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Get </a:t>
            </a:r>
            <a:r>
              <a:rPr lang="en-US" dirty="0" err="1"/>
              <a:t>json</a:t>
            </a:r>
            <a:r>
              <a:rPr lang="en-US" dirty="0"/>
              <a:t>-schemas[0]</a:t>
            </a:r>
            <a:br>
              <a:rPr lang="en-US" dirty="0"/>
            </a:b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Measurement File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88511B3-0DC6-6EA6-E388-1FFFA776FA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2525" y="770731"/>
          <a:ext cx="3095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3095593" imgH="514350" progId="Package">
                  <p:embed/>
                </p:oleObj>
              </mc:Choice>
              <mc:Fallback>
                <p:oleObj name="Packager Shell Object" showAsIcon="1" r:id="rId2" imgW="3095593" imgH="51435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88511B3-0DC6-6EA6-E388-1FFFA776FA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72525" y="770731"/>
                        <a:ext cx="30956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D88A164-42DB-2654-144B-C4B40579D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270105"/>
            <a:ext cx="7278116" cy="628738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BFEE219-10A7-8AC6-81BF-7B208EF28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48812" y="2451962"/>
          <a:ext cx="7715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771620" imgH="514350" progId="Package">
                  <p:embed/>
                </p:oleObj>
              </mc:Choice>
              <mc:Fallback>
                <p:oleObj name="Packager Shell Object" showAsIcon="1" r:id="rId5" imgW="771620" imgH="514350" progId="Package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BFEE219-10A7-8AC6-81BF-7B208EF282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8812" y="2451962"/>
                        <a:ext cx="7715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2117EC4-AD89-C647-F393-F32211261E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3768370"/>
            <a:ext cx="6315956" cy="254353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E2571D-9772-7419-7713-D44A8DE7B142}"/>
              </a:ext>
            </a:extLst>
          </p:cNvPr>
          <p:cNvSpPr/>
          <p:nvPr/>
        </p:nvSpPr>
        <p:spPr>
          <a:xfrm>
            <a:off x="2014803" y="4666636"/>
            <a:ext cx="5414697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D82270-D5C5-F6D3-25BF-D64E3FA588E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497316" y="2709137"/>
            <a:ext cx="105149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1614A2EB-3796-A29C-AF25-6226FEE94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77386" y="4525785"/>
          <a:ext cx="7143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8" imgW="714508" imgH="514350" progId="Package">
                  <p:embed/>
                </p:oleObj>
              </mc:Choice>
              <mc:Fallback>
                <p:oleObj name="Packager Shell Object" showAsIcon="1" r:id="rId8" imgW="714508" imgH="514350" progId="Package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1614A2EB-3796-A29C-AF25-6226FEE94C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77386" y="4525785"/>
                        <a:ext cx="7143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96D1CA-87F5-AE88-36FF-76E7078024F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7429500" y="4782960"/>
            <a:ext cx="2147886" cy="780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59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E2BB29-D8FE-3929-834F-36FEB1C5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Schema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Measurement File</a:t>
            </a:r>
            <a:r>
              <a:rPr lang="en-US" sz="3200" dirty="0"/>
              <a:t> (</a:t>
            </a:r>
            <a:r>
              <a:rPr lang="en-US" sz="3200" dirty="0" err="1"/>
              <a:t>C’ted</a:t>
            </a:r>
            <a:r>
              <a:rPr lang="en-US" sz="3200" dirty="0"/>
              <a:t>)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88511B3-0DC6-6EA6-E388-1FFFA776F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123774"/>
              </p:ext>
            </p:extLst>
          </p:nvPr>
        </p:nvGraphicFramePr>
        <p:xfrm>
          <a:off x="8772525" y="770731"/>
          <a:ext cx="3095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3095593" imgH="514350" progId="Package">
                  <p:embed/>
                </p:oleObj>
              </mc:Choice>
              <mc:Fallback>
                <p:oleObj name="Packager Shell Object" showAsIcon="1" r:id="rId2" imgW="309559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72525" y="770731"/>
                        <a:ext cx="30956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87C6DC10-5A14-BA40-ADCD-3EC2F56F2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319" y="2261966"/>
            <a:ext cx="6668431" cy="317226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E2571D-9772-7419-7713-D44A8DE7B142}"/>
              </a:ext>
            </a:extLst>
          </p:cNvPr>
          <p:cNvSpPr/>
          <p:nvPr/>
        </p:nvSpPr>
        <p:spPr>
          <a:xfrm>
            <a:off x="1986229" y="313339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1689958-9797-91DF-EBDE-9F8EEDFFEC7F}"/>
              </a:ext>
            </a:extLst>
          </p:cNvPr>
          <p:cNvSpPr/>
          <p:nvPr/>
        </p:nvSpPr>
        <p:spPr>
          <a:xfrm>
            <a:off x="1986229" y="3504757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8A52252-964A-390B-DB33-0B98F0028D4D}"/>
              </a:ext>
            </a:extLst>
          </p:cNvPr>
          <p:cNvSpPr/>
          <p:nvPr/>
        </p:nvSpPr>
        <p:spPr>
          <a:xfrm>
            <a:off x="1986229" y="387612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061A7D-8161-D8AA-55FD-E3E0F7CC8E2A}"/>
              </a:ext>
            </a:extLst>
          </p:cNvPr>
          <p:cNvSpPr/>
          <p:nvPr/>
        </p:nvSpPr>
        <p:spPr>
          <a:xfrm>
            <a:off x="1986228" y="423133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8FE6BA-B0DD-B505-7EA9-64893A5189D2}"/>
              </a:ext>
            </a:extLst>
          </p:cNvPr>
          <p:cNvSpPr/>
          <p:nvPr/>
        </p:nvSpPr>
        <p:spPr>
          <a:xfrm>
            <a:off x="1986227" y="459311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195428-A172-2B3B-F35D-AEE060E2C087}"/>
              </a:ext>
            </a:extLst>
          </p:cNvPr>
          <p:cNvSpPr/>
          <p:nvPr/>
        </p:nvSpPr>
        <p:spPr>
          <a:xfrm>
            <a:off x="1986227" y="495489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626AAAE-A646-3123-598D-0E5C25DB9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761" y="5016336"/>
            <a:ext cx="7621064" cy="1076475"/>
          </a:xfrm>
          <a:prstGeom prst="rect">
            <a:avLst/>
          </a:prstGeom>
          <a:ln>
            <a:solidFill>
              <a:srgbClr val="E97132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1C9187B-9788-193D-B2C5-64FED0CA1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761" y="3059882"/>
            <a:ext cx="6144482" cy="1295581"/>
          </a:xfrm>
          <a:prstGeom prst="rect">
            <a:avLst/>
          </a:prstGeom>
          <a:ln>
            <a:solidFill>
              <a:srgbClr val="E97132"/>
            </a:solidFill>
          </a:ln>
        </p:spPr>
      </p:pic>
    </p:spTree>
    <p:extLst>
      <p:ext uri="{BB962C8B-B14F-4D97-AF65-F5344CB8AC3E}">
        <p14:creationId xmlns:p14="http://schemas.microsoft.com/office/powerpoint/2010/main" val="3629667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E2BB29-D8FE-3929-834F-36FEB1C5A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5"/>
            <a:ext cx="10515600" cy="47386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Build a field catalog directly from an Allotrope ASM JSON Schema (e.g. </a:t>
            </a:r>
            <a:r>
              <a:rPr lang="en-US" dirty="0" err="1"/>
              <a:t>ftir.schema</a:t>
            </a:r>
            <a:r>
              <a:rPr lang="en-US" dirty="0"/>
              <a:t>), instead of from an actual measurement file.</a:t>
            </a:r>
          </a:p>
          <a:p>
            <a:pPr marL="0" indent="0">
              <a:buNone/>
            </a:pPr>
            <a:r>
              <a:rPr lang="en-US" dirty="0"/>
              <a:t>It acts as template to join with an actual measurements file.</a:t>
            </a:r>
          </a:p>
          <a:p>
            <a:pPr marL="0" indent="0">
              <a:buNone/>
            </a:pPr>
            <a:r>
              <a:rPr lang="en-US" dirty="0"/>
              <a:t>Units are known where the schema pins them via a "$</a:t>
            </a:r>
            <a:r>
              <a:rPr lang="en-US" dirty="0" err="1"/>
              <a:t>defs</a:t>
            </a:r>
            <a:r>
              <a:rPr lang="en-US" dirty="0"/>
              <a:t>/&lt;unit&gt;" $ref (quantity datum) or via a </a:t>
            </a:r>
            <a:r>
              <a:rPr lang="en-US" dirty="0" err="1"/>
              <a:t>datacube’s</a:t>
            </a:r>
            <a:r>
              <a:rPr lang="en-US" dirty="0"/>
              <a:t> cube-structure constants.</a:t>
            </a:r>
          </a:p>
          <a:p>
            <a:pPr marL="0" indent="0">
              <a:buNone/>
            </a:pPr>
            <a:r>
              <a:rPr lang="en-US" dirty="0"/>
              <a:t>Recognized "$</a:t>
            </a:r>
            <a:r>
              <a:rPr lang="en-US" dirty="0" err="1"/>
              <a:t>asm.pattern</a:t>
            </a:r>
            <a:r>
              <a:rPr lang="en-US" dirty="0"/>
              <a:t>" values:</a:t>
            </a:r>
          </a:p>
          <a:p>
            <a:r>
              <a:rPr lang="en-US" dirty="0"/>
              <a:t>"aggregate datum": a container -&gt; recurse into its "properties".</a:t>
            </a:r>
          </a:p>
          <a:p>
            <a:r>
              <a:rPr lang="en-US" dirty="0"/>
              <a:t>"</a:t>
            </a:r>
            <a:r>
              <a:rPr lang="en-US" b="1" dirty="0"/>
              <a:t>quantity datum</a:t>
            </a:r>
            <a:r>
              <a:rPr lang="en-US" dirty="0"/>
              <a:t>": a {value, unit} leaf -&gt; unit taken from the </a:t>
            </a:r>
            <a:r>
              <a:rPr lang="en-US" dirty="0" err="1"/>
              <a:t>units.schema</a:t>
            </a:r>
            <a:r>
              <a:rPr lang="en-US" dirty="0"/>
              <a:t> $ref. </a:t>
            </a:r>
          </a:p>
          <a:p>
            <a:r>
              <a:rPr lang="en-US" dirty="0"/>
              <a:t>"</a:t>
            </a:r>
            <a:r>
              <a:rPr lang="en-US" b="1" dirty="0"/>
              <a:t>value datum</a:t>
            </a:r>
            <a:r>
              <a:rPr lang="en-US" dirty="0"/>
              <a:t>": a plain value leaf -&gt; unit is always null. </a:t>
            </a:r>
          </a:p>
          <a:p>
            <a:r>
              <a:rPr lang="en-US" dirty="0"/>
              <a:t>"</a:t>
            </a:r>
            <a:r>
              <a:rPr lang="en-US" dirty="0" err="1"/>
              <a:t>datacube</a:t>
            </a:r>
            <a:r>
              <a:rPr lang="en-US" dirty="0"/>
              <a:t>": an Allotrope data cube -&gt; described (dimensions/measures), not expanded.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>
            <a:normAutofit/>
          </a:bodyPr>
          <a:lstStyle/>
          <a:p>
            <a:r>
              <a:rPr lang="en-US" dirty="0"/>
              <a:t>Transform Schema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FC1E5-0220-4DDD-7FD1-ECB669B20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011" y="5133076"/>
            <a:ext cx="2524477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0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8CD8-A0DD-9F0C-F3C2-6840F403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-&gt; Field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2F957-7E66-E9E0-B43A-97978E47D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property with pattern “quantity datum” or “value datum”, add an entry to the field catalog: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510713-018F-ED24-B874-65C9BF392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449" y="2728785"/>
            <a:ext cx="1448002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01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8CD8-A0DD-9F0C-F3C2-6840F403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-&gt; Field Catalog: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2F957-7E66-E9E0-B43A-97978E47D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80710E-AE83-D519-2A42-B2776CBE2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438730"/>
              </p:ext>
            </p:extLst>
          </p:nvPr>
        </p:nvGraphicFramePr>
        <p:xfrm>
          <a:off x="9832975" y="770731"/>
          <a:ext cx="1647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647743" imgH="514350" progId="Package">
                  <p:embed/>
                </p:oleObj>
              </mc:Choice>
              <mc:Fallback>
                <p:oleObj name="Packager Shell Object" showAsIcon="1" r:id="rId2" imgW="164774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32975" y="770731"/>
                        <a:ext cx="16478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68D9790-6E38-1A6F-B661-C0668ACC9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03" y="1457764"/>
            <a:ext cx="5353797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2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7132">
            <a:alpha val="25098"/>
          </a:srgbClr>
        </a:solidFill>
        <a:ln>
          <a:solidFill>
            <a:schemeClr val="accent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762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Package</vt:lpstr>
      <vt:lpstr>Get Zontal Access Token</vt:lpstr>
      <vt:lpstr>Query Information Packages on Zontal</vt:lpstr>
      <vt:lpstr>PowerPoint Presentation</vt:lpstr>
      <vt:lpstr>Example 2</vt:lpstr>
      <vt:lpstr>GUI Zontal - Download</vt:lpstr>
      <vt:lpstr>API Zontal – Download – Identifier &amp; Title Lookup</vt:lpstr>
      <vt:lpstr>API Zontal – Download &amp; Unzip</vt:lpstr>
      <vt:lpstr>Processing Measurement File</vt:lpstr>
      <vt:lpstr>Processing Measurement File (C’ted)</vt:lpstr>
      <vt:lpstr>Transform Schema</vt:lpstr>
      <vt:lpstr>Schema -&gt; Field Catalog</vt:lpstr>
      <vt:lpstr>Schema -&gt; Field Catalog: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Vanneste, Manu [JRDBE NON-J&amp;J]</dc:creator>
  <cp:lastModifiedBy>Vanneste, Manu [JRDBE NON-J&amp;J]</cp:lastModifiedBy>
  <cp:revision>2</cp:revision>
  <dcterms:created xsi:type="dcterms:W3CDTF">2026-09-14T07:36:21Z</dcterms:created>
  <dcterms:modified xsi:type="dcterms:W3CDTF">2026-09-14T09:44:04Z</dcterms:modified>
</cp:coreProperties>
</file>