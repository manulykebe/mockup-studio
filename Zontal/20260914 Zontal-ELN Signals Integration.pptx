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10_7506A64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3" r:id="rId6"/>
    <p:sldId id="265" r:id="rId7"/>
    <p:sldId id="266" r:id="rId8"/>
    <p:sldId id="268" r:id="rId9"/>
    <p:sldId id="267" r:id="rId10"/>
    <p:sldId id="270" r:id="rId11"/>
    <p:sldId id="269" r:id="rId12"/>
    <p:sldId id="271" r:id="rId13"/>
    <p:sldId id="272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DF4F8CE-2AC2-3868-95C6-5413D476BC68}" name="Vanneste, Manu [JRDBE NON-J&amp;J]" initials="MV" userId="S::MVannest@its.jnj.com::18e0ccb2-2221-40c2-9d94-705e877123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>
        <p:scale>
          <a:sx n="50" d="100"/>
          <a:sy n="50" d="100"/>
        </p:scale>
        <p:origin x="36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modernComment_110_7506A6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8513EB5-86A2-4448-8DD9-6A7B6A4C2037}" authorId="{9DF4F8CE-2AC2-3868-95C6-5413D476BC68}" created="2026-09-14T14:11:22.026">
    <pc:sldMkLst xmlns:pc="http://schemas.microsoft.com/office/powerpoint/2013/main/command">
      <pc:docMk/>
      <pc:sldMk cId="122710628" sldId="272"/>
    </pc:sldMkLst>
    <p188:txBody>
      <a:bodyPr/>
      <a:lstStyle/>
      <a:p>
        <a:r>
          <a:rPr lang="en-US"/>
          <a:t>Regarding overwriting unit,
as it is specified in the schema there is no need to overwrite, however case might be “no units”,”a unit”?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0A067-5AC0-61C8-F24C-8038CA675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AB1B66-995B-A4A7-6EB9-9EF35199E1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4C2DA-BEFE-00F4-D956-5026E3958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398F-CDA1-4C86-8EF3-C1114AAEDA5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C196E-CDC8-FE7C-6D55-4BAA3CFBB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0FDA0-A30F-6376-DFEB-5D71410BC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3B5B-AA13-44CB-8490-C2FD87918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174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8BDB-AD46-E770-6102-9A950F6EB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6E150-2391-E384-B817-2E6E89920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E3064-5F05-0552-6934-5658A11F7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398F-CDA1-4C86-8EF3-C1114AAEDA5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8C13-729E-FCA7-6023-6D6BEFBB8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EECBF-48EC-7C2B-23B1-B61F2B1B5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3B5B-AA13-44CB-8490-C2FD87918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54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F24B6-137E-311D-B805-1B4B52D5D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154DF-E838-512E-D07B-2B2565ADC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4409B-35E8-E3D0-73B7-E08F2FB6C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398F-CDA1-4C86-8EF3-C1114AAEDA5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EB1AF-072A-7019-E427-3CDC96FAA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6DB29-CE6D-D9BD-F07A-87C59D060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3B5B-AA13-44CB-8490-C2FD87918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631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283AC-90D6-A9B3-5CCD-63A9DC4A7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5052E-16CF-D316-7428-882FBF2E1E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9FE388-1F29-3335-2179-12430AC9F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DAA4E-9872-36CE-B146-7EF666082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398F-CDA1-4C86-8EF3-C1114AAEDA5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CD9F29-1D55-C4E3-5B7E-75607407C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3991AA-80B6-008B-624E-522242C94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3B5B-AA13-44CB-8490-C2FD87918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430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7521F-D9D9-E467-0346-18E9E0345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9102C-1F78-A3C7-53FB-DA037554F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F7C5BA-DCDF-2A53-B49D-D86F9BDE1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8BC277-CDFC-C626-2A19-D99BF19D0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DDE9F7-CFD1-4EDB-DBF2-D612E17DD7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C7B692-25C6-CF5D-8A6A-1B512B854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398F-CDA1-4C86-8EF3-C1114AAEDA5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2908FD-1B52-5F32-3770-F5DEEDB11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801BAF-FB4C-C0AB-D447-D966F022A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3B5B-AA13-44CB-8490-C2FD87918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51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96D94-2AC9-D6DA-758C-ACC828301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45A650-03AA-2980-E975-648098AA1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398F-CDA1-4C86-8EF3-C1114AAEDA5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D7B54F-65A4-8EA4-10DF-9A6D1B1B5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F5B8F-73FC-D398-3E28-1B02F6FC1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3B5B-AA13-44CB-8490-C2FD87918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292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54AA0C-8C17-0761-7006-1893054B4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398F-CDA1-4C86-8EF3-C1114AAEDA5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48B0DE-7B7A-4F74-22E1-D1689669E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64608-3657-0D4A-A3A6-191B96296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3B5B-AA13-44CB-8490-C2FD87918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065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168D7-9F19-8402-738B-5109B7CD9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FF2C-0328-F74F-A6C6-EC7CE2428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91634-8CFD-47C7-845C-BAB7E1AA3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552CD1-B345-B7C5-D3CB-CB055366D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398F-CDA1-4C86-8EF3-C1114AAEDA5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46837F-DA75-0C1B-D49F-2FDC96260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C8777-141B-2B7B-497B-D5EB0F417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3B5B-AA13-44CB-8490-C2FD87918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95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8E60C-938D-F18B-985B-2B98D6A4E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1350AF-D27D-75D9-0709-DD3ACB2C0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A29E7-1E7B-2990-3128-90F8DDB81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F07F00-32E7-8126-5927-D790D9917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398F-CDA1-4C86-8EF3-C1114AAEDA5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57BF6D-1EE1-3B1F-BFEF-604A238FA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0086C4-D4EB-D93D-71AA-22377CF06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3B5B-AA13-44CB-8490-C2FD87918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02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62B51-7A71-ED8E-1418-AAFDE2DD2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5E717C-AFC4-45D6-2117-47312042D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3DB69-D1A2-14E7-CA5B-E7A64E4EB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398F-CDA1-4C86-8EF3-C1114AAEDA5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F1292-EC39-C4A4-62D0-4EE2AC3A9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24AFA-8B4E-0443-9E56-6318C9C3E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3B5B-AA13-44CB-8490-C2FD87918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864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C69961-C6EA-AE98-CE4B-FBD6CA470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87F3C9-343B-002F-5AFD-671B1DFC8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13FDA-74E2-950B-10C6-38BBBBC76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398F-CDA1-4C86-8EF3-C1114AAEDA5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75E55-B1D0-89E1-2AAA-BED28F32E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5E823-14D2-4094-274A-A0B707DA0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93B5B-AA13-44CB-8490-C2FD87918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471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5E21F4-DBFB-91F3-E47E-0341B793F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841BC-EBDF-2AB0-8F18-58B749292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64B25-F7BA-8EF5-463B-7FDDF932D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8C398F-CDA1-4C86-8EF3-C1114AAEDA5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1EDF6-F1A1-3154-C0A1-C3F32D833C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39ED7-6907-2F3C-807B-B9BB9CF1AC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793B5B-AA13-44CB-8490-C2FD87918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95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zontaldev.jnj.com/auth/realms/zontal-space/protocol/openid-connect/token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8.emf"/><Relationship Id="rId7" Type="http://schemas.openxmlformats.org/officeDocument/2006/relationships/image" Target="../media/image11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png"/><Relationship Id="rId9" Type="http://schemas.openxmlformats.org/officeDocument/2006/relationships/image" Target="../media/image1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microsoft.com/office/2018/10/relationships/comments" Target="../comments/modernComment_110_7506A6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AA728-A07C-ACF8-1D0C-5FFD9B64C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</a:t>
            </a:r>
            <a:r>
              <a:rPr lang="en-US" dirty="0" err="1"/>
              <a:t>Zontal</a:t>
            </a:r>
            <a:r>
              <a:rPr lang="en-US" dirty="0"/>
              <a:t> Access Token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F038D-B165-BA8E-FF89-252197057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Retrieve </a:t>
            </a:r>
            <a:r>
              <a:rPr lang="en-US" dirty="0" err="1"/>
              <a:t>zontal_access_token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  <a:hlinkClick r:id="rId2"/>
              </a:rPr>
              <a:t>https://{{ZONTAL_HOST}}/auth/realms/zontal-space/protocol/openid-connect/token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AC98E3-161F-8F93-097E-11B11483B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838" y="3157452"/>
            <a:ext cx="2772162" cy="122889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7ADB351-C21E-FF03-6C80-906381B94431}"/>
              </a:ext>
            </a:extLst>
          </p:cNvPr>
          <p:cNvGrpSpPr/>
          <p:nvPr/>
        </p:nvGrpSpPr>
        <p:grpSpPr>
          <a:xfrm>
            <a:off x="8476647" y="3022557"/>
            <a:ext cx="2877153" cy="1498686"/>
            <a:chOff x="7281459" y="3820293"/>
            <a:chExt cx="2877153" cy="149868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16DE36A-8B3B-CDB0-6770-B70C0444A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91187" y="4204398"/>
              <a:ext cx="2867425" cy="111458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A73219C-0C93-7E79-0D4E-1A80728399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81459" y="3820293"/>
              <a:ext cx="1695687" cy="362001"/>
            </a:xfrm>
            <a:prstGeom prst="rect">
              <a:avLst/>
            </a:prstGeom>
          </p:spPr>
        </p:pic>
      </p:grp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3EB7C8B-D423-011E-678E-7A5B6D308266}"/>
              </a:ext>
            </a:extLst>
          </p:cNvPr>
          <p:cNvSpPr/>
          <p:nvPr/>
        </p:nvSpPr>
        <p:spPr>
          <a:xfrm>
            <a:off x="6912864" y="3479320"/>
            <a:ext cx="978408" cy="484632"/>
          </a:xfrm>
          <a:prstGeom prst="rightArrow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873659C-429B-438D-BE55-1E476A9A6338}"/>
              </a:ext>
            </a:extLst>
          </p:cNvPr>
          <p:cNvSpPr/>
          <p:nvPr/>
        </p:nvSpPr>
        <p:spPr>
          <a:xfrm>
            <a:off x="8994552" y="3228975"/>
            <a:ext cx="1042416" cy="177687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195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5F222-BA8A-BDD8-61E9-F6312D8AD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Information Packages on </a:t>
            </a:r>
            <a:r>
              <a:rPr lang="en-US" dirty="0" err="1"/>
              <a:t>Zontal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116D5-D257-1A80-135D-06D10BD40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04632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https://{{ZONTAL_HOST}}/api/search/informationPackages/</a:t>
            </a:r>
          </a:p>
          <a:p>
            <a:r>
              <a:rPr lang="en-US" dirty="0"/>
              <a:t>1 or more sample names: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"filter": [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"</a:t>
            </a:r>
            <a:r>
              <a:rPr lang="en-US" dirty="0" err="1">
                <a:latin typeface="Consolas" panose="020B0609020204030204" pitchFamily="49" charset="0"/>
              </a:rPr>
              <a:t>propertyName</a:t>
            </a:r>
            <a:r>
              <a:rPr lang="en-US" dirty="0">
                <a:latin typeface="Consolas" panose="020B0609020204030204" pitchFamily="49" charset="0"/>
              </a:rPr>
              <a:t>": "</a:t>
            </a:r>
            <a:r>
              <a:rPr lang="en-US" dirty="0" err="1">
                <a:latin typeface="Consolas" panose="020B0609020204030204" pitchFamily="49" charset="0"/>
              </a:rPr>
              <a:t>sampleName</a:t>
            </a:r>
            <a:r>
              <a:rPr lang="en-US" dirty="0">
                <a:latin typeface="Consolas" panose="020B0609020204030204" pitchFamily="49" charset="0"/>
              </a:rPr>
              <a:t>",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"value": </a:t>
            </a:r>
            <a:r>
              <a:rPr lang="en-US" b="1" dirty="0">
                <a:latin typeface="Consolas" panose="020B0609020204030204" pitchFamily="49" charset="0"/>
              </a:rPr>
              <a:t>[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  "QAS4001","QAS3001-b","QAS4001: TI_5599638"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</a:t>
            </a:r>
            <a:r>
              <a:rPr lang="en-US" b="1" dirty="0">
                <a:latin typeface="Consolas" panose="020B0609020204030204" pitchFamily="49" charset="0"/>
              </a:rPr>
              <a:t>]</a:t>
            </a:r>
            <a:r>
              <a:rPr lang="en-US" dirty="0"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"</a:t>
            </a:r>
            <a:r>
              <a:rPr lang="en-US" dirty="0" err="1">
                <a:latin typeface="Consolas" panose="020B0609020204030204" pitchFamily="49" charset="0"/>
              </a:rPr>
              <a:t>filterType</a:t>
            </a:r>
            <a:r>
              <a:rPr lang="en-US" dirty="0">
                <a:latin typeface="Consolas" panose="020B0609020204030204" pitchFamily="49" charset="0"/>
              </a:rPr>
              <a:t>": "prefix",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"</a:t>
            </a:r>
            <a:r>
              <a:rPr lang="en-US" dirty="0" err="1">
                <a:latin typeface="Consolas" panose="020B0609020204030204" pitchFamily="49" charset="0"/>
              </a:rPr>
              <a:t>caseInsensitive</a:t>
            </a:r>
            <a:r>
              <a:rPr lang="en-US" dirty="0">
                <a:latin typeface="Consolas" panose="020B0609020204030204" pitchFamily="49" charset="0"/>
              </a:rPr>
              <a:t>": true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]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12484A3-704D-4DCA-3D8B-144363E7FB21}"/>
              </a:ext>
            </a:extLst>
          </p:cNvPr>
          <p:cNvSpPr/>
          <p:nvPr/>
        </p:nvSpPr>
        <p:spPr>
          <a:xfrm>
            <a:off x="1847088" y="4672584"/>
            <a:ext cx="2020824" cy="393192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949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70598E1-74B6-95A4-EEDF-FECB1CA81A52}"/>
              </a:ext>
            </a:extLst>
          </p:cNvPr>
          <p:cNvSpPr txBox="1"/>
          <p:nvPr/>
        </p:nvSpPr>
        <p:spPr>
          <a:xfrm>
            <a:off x="285188" y="871701"/>
            <a:ext cx="1162162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"range"</a:t>
            </a:r>
            <a:endParaRPr lang="en-US" dirty="0"/>
          </a:p>
          <a:p>
            <a:r>
              <a:rPr lang="en-US" dirty="0"/>
              <a:t>Used to filter numeric values, timestamps, or date ranges. It typically requires defining bounding criteria such as: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gte</a:t>
            </a:r>
            <a:r>
              <a:rPr lang="en-US" dirty="0"/>
              <a:t> (Greater than or equal to)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lte</a:t>
            </a:r>
            <a:r>
              <a:rPr lang="en-US" dirty="0"/>
              <a:t> (Less than or equal to)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gt</a:t>
            </a:r>
            <a:r>
              <a:rPr lang="en-US" dirty="0"/>
              <a:t> (Greater than)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lt</a:t>
            </a:r>
            <a:r>
              <a:rPr lang="en-US" dirty="0"/>
              <a:t> (Less than)</a:t>
            </a:r>
          </a:p>
          <a:p>
            <a:r>
              <a:rPr lang="en-US" b="1" dirty="0"/>
              <a:t>2. "term"</a:t>
            </a:r>
            <a:endParaRPr lang="en-US" dirty="0"/>
          </a:p>
          <a:p>
            <a:r>
              <a:rPr lang="en-US" dirty="0"/>
              <a:t>Distinct from "terms", this filters by a single, exact matching value instead of an array of multiple potential matching terms. It prevents tokenization or text-splitting and is commonly used for exact ID or exact flag matching.</a:t>
            </a:r>
          </a:p>
          <a:p>
            <a:r>
              <a:rPr lang="en-US" b="1" dirty="0"/>
              <a:t>3. "prefix"</a:t>
            </a:r>
            <a:endParaRPr lang="en-US" dirty="0"/>
          </a:p>
          <a:p>
            <a:r>
              <a:rPr lang="en-US" dirty="0"/>
              <a:t>Matches documents that contain a specific field starting with the exact characters provided. For example, applying a prefix filter of </a:t>
            </a:r>
            <a:r>
              <a:rPr lang="en-US" i="1" dirty="0"/>
              <a:t>ana</a:t>
            </a:r>
            <a:r>
              <a:rPr lang="en-US" dirty="0"/>
              <a:t> might return items starting with </a:t>
            </a:r>
            <a:r>
              <a:rPr lang="en-US" i="1" dirty="0"/>
              <a:t>analysis</a:t>
            </a:r>
            <a:r>
              <a:rPr lang="en-US" dirty="0"/>
              <a:t>.</a:t>
            </a:r>
          </a:p>
          <a:p>
            <a:r>
              <a:rPr lang="en-US" b="1" dirty="0"/>
              <a:t>4. "wildcard"</a:t>
            </a:r>
            <a:endParaRPr lang="en-US" dirty="0"/>
          </a:p>
          <a:p>
            <a:r>
              <a:rPr lang="en-US" dirty="0"/>
              <a:t>Allows matching based on pattern constraints. It supports standard operators like * (matches zero or more characters) and ? (matches a single character).</a:t>
            </a:r>
          </a:p>
          <a:p>
            <a:r>
              <a:rPr lang="en-US" b="1" dirty="0"/>
              <a:t>5. "exists"</a:t>
            </a:r>
            <a:endParaRPr lang="en-US" dirty="0"/>
          </a:p>
          <a:p>
            <a:r>
              <a:rPr lang="en-US" dirty="0"/>
              <a:t>Filters data based on whether a particular field contains any valid value or is missing completely. It typically accepts a </a:t>
            </a:r>
            <a:r>
              <a:rPr lang="en-US" dirty="0" err="1"/>
              <a:t>boolean</a:t>
            </a:r>
            <a:r>
              <a:rPr lang="en-US" dirty="0"/>
              <a:t> flag or operates as a standalone check to find entries where a specific metadata attribute is non-null.</a:t>
            </a:r>
          </a:p>
          <a:p>
            <a:r>
              <a:rPr lang="en-US" b="1" dirty="0"/>
              <a:t>6. "match"</a:t>
            </a:r>
            <a:endParaRPr lang="en-US" dirty="0"/>
          </a:p>
          <a:p>
            <a:r>
              <a:rPr lang="en-US" dirty="0"/>
              <a:t>Used for standard full-text search filtering. Unlike exact match options like term, "match" will analyze the input text (such as stripping punctuation, lowercasing, or splitting into keywords) to look for similarities.</a:t>
            </a:r>
          </a:p>
          <a:p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F3217FA-1D34-DA95-3EB0-897F0CA1B2E4}"/>
              </a:ext>
            </a:extLst>
          </p:cNvPr>
          <p:cNvGrpSpPr/>
          <p:nvPr/>
        </p:nvGrpSpPr>
        <p:grpSpPr>
          <a:xfrm>
            <a:off x="285187" y="348481"/>
            <a:ext cx="2907955" cy="523220"/>
            <a:chOff x="285187" y="348481"/>
            <a:chExt cx="2907955" cy="52322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B9615E6-C509-EDB4-B880-C2DBD21007B5}"/>
                </a:ext>
              </a:extLst>
            </p:cNvPr>
            <p:cNvSpPr/>
            <p:nvPr/>
          </p:nvSpPr>
          <p:spPr>
            <a:xfrm>
              <a:off x="332014" y="413495"/>
              <a:ext cx="2640132" cy="393192"/>
            </a:xfrm>
            <a:prstGeom prst="roundRect">
              <a:avLst/>
            </a:prstGeom>
            <a:solidFill>
              <a:srgbClr val="E97132">
                <a:alpha val="25098"/>
              </a:srgb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372E7CF-FA7F-038E-1E1E-29691C5760E0}"/>
                </a:ext>
              </a:extLst>
            </p:cNvPr>
            <p:cNvSpPr txBox="1"/>
            <p:nvPr/>
          </p:nvSpPr>
          <p:spPr>
            <a:xfrm>
              <a:off x="285187" y="348481"/>
              <a:ext cx="290795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Consolas" panose="020B0609020204030204" pitchFamily="49" charset="0"/>
                </a:rPr>
                <a:t>"</a:t>
              </a:r>
              <a:r>
                <a:rPr lang="en-US" sz="2800" dirty="0" err="1">
                  <a:latin typeface="Consolas" panose="020B0609020204030204" pitchFamily="49" charset="0"/>
                </a:rPr>
                <a:t>filterType</a:t>
              </a:r>
              <a:r>
                <a:rPr lang="en-US" sz="2800" dirty="0">
                  <a:latin typeface="Consolas" panose="020B0609020204030204" pitchFamily="49" charset="0"/>
                </a:rPr>
                <a:t>":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4283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19ADD6-3991-94D6-AD81-A608C689D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8457"/>
            <a:ext cx="5257800" cy="5587999"/>
          </a:xfrm>
        </p:spPr>
        <p:txBody>
          <a:bodyPr>
            <a:noAutofit/>
          </a:bodyPr>
          <a:lstStyle/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{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"size": 25,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"filter": [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{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    "</a:t>
            </a:r>
            <a:r>
              <a:rPr lang="en-US" sz="1800" dirty="0" err="1"/>
              <a:t>propertyName</a:t>
            </a:r>
            <a:r>
              <a:rPr lang="en-US" sz="1800" dirty="0"/>
              <a:t>": "</a:t>
            </a:r>
            <a:r>
              <a:rPr lang="en-US" sz="1800" dirty="0" err="1"/>
              <a:t>lifecycleStatus</a:t>
            </a:r>
            <a:r>
              <a:rPr lang="en-US" sz="1800" dirty="0"/>
              <a:t>",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    "value": [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        "Submitted",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        "Archived"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    ],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    "</a:t>
            </a:r>
            <a:r>
              <a:rPr lang="en-US" sz="1800" dirty="0" err="1"/>
              <a:t>filterType</a:t>
            </a:r>
            <a:r>
              <a:rPr lang="en-US" sz="1800" dirty="0"/>
              <a:t>": "terms"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},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{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    "</a:t>
            </a:r>
            <a:r>
              <a:rPr lang="en-US" sz="1800" dirty="0" err="1"/>
              <a:t>propertyName</a:t>
            </a:r>
            <a:r>
              <a:rPr lang="en-US" sz="1800" dirty="0"/>
              <a:t>": "</a:t>
            </a:r>
            <a:r>
              <a:rPr lang="en-US" sz="1800" dirty="0" err="1"/>
              <a:t>fileName</a:t>
            </a:r>
            <a:r>
              <a:rPr lang="en-US" sz="1800" dirty="0"/>
              <a:t>",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    "value": [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        "S0995945"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    ],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    "</a:t>
            </a:r>
            <a:r>
              <a:rPr lang="en-US" sz="1800" dirty="0" err="1"/>
              <a:t>filterType</a:t>
            </a:r>
            <a:r>
              <a:rPr lang="en-US" sz="1800" dirty="0"/>
              <a:t>": "wildcard"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},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19FD2E6-D8F0-FF1C-F2D5-77E7E1B87E98}"/>
              </a:ext>
            </a:extLst>
          </p:cNvPr>
          <p:cNvSpPr txBox="1">
            <a:spLocks/>
          </p:cNvSpPr>
          <p:nvPr/>
        </p:nvSpPr>
        <p:spPr>
          <a:xfrm>
            <a:off x="6096000" y="899885"/>
            <a:ext cx="5257800" cy="55879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   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        "</a:t>
            </a:r>
            <a:r>
              <a:rPr lang="en-US" sz="1800" dirty="0" err="1"/>
              <a:t>propertyName</a:t>
            </a:r>
            <a:r>
              <a:rPr lang="en-US" sz="1800" dirty="0"/>
              <a:t>": "</a:t>
            </a:r>
            <a:r>
              <a:rPr lang="en-US" sz="1800" dirty="0" err="1"/>
              <a:t>instrumentId</a:t>
            </a:r>
            <a:r>
              <a:rPr lang="en-US" sz="1800" dirty="0"/>
              <a:t>",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        "value": [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            "IF_NIR"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        ],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        "</a:t>
            </a:r>
            <a:r>
              <a:rPr lang="en-US" sz="1800" dirty="0" err="1"/>
              <a:t>filterType</a:t>
            </a:r>
            <a:r>
              <a:rPr lang="en-US" sz="1800" dirty="0"/>
              <a:t>": "terms"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    },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   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        "</a:t>
            </a:r>
            <a:r>
              <a:rPr lang="en-US" sz="1800" dirty="0" err="1"/>
              <a:t>propertyName</a:t>
            </a:r>
            <a:r>
              <a:rPr lang="en-US" sz="1800" dirty="0"/>
              <a:t>": "</a:t>
            </a:r>
            <a:r>
              <a:rPr lang="en-US" sz="1800" dirty="0" err="1"/>
              <a:t>informationPackageProfile</a:t>
            </a:r>
            <a:r>
              <a:rPr lang="en-US" sz="1800" dirty="0"/>
              <a:t>",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        "value": [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            "VNF"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        ],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1800" dirty="0"/>
              <a:t>            "</a:t>
            </a:r>
            <a:r>
              <a:rPr lang="en-US" sz="1800" dirty="0" err="1"/>
              <a:t>filterType</a:t>
            </a:r>
            <a:r>
              <a:rPr lang="en-US" sz="1800" dirty="0"/>
              <a:t>": " wildcard "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    }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],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"</a:t>
            </a:r>
            <a:r>
              <a:rPr lang="en-US" sz="1800" dirty="0" err="1"/>
              <a:t>sortField</a:t>
            </a:r>
            <a:r>
              <a:rPr lang="en-US" sz="1800" dirty="0"/>
              <a:t>": [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    "</a:t>
            </a:r>
            <a:r>
              <a:rPr lang="en-US" sz="1800" dirty="0" err="1"/>
              <a:t>createdOn</a:t>
            </a:r>
            <a:r>
              <a:rPr lang="en-US" sz="1800" dirty="0"/>
              <a:t>"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],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"</a:t>
            </a:r>
            <a:r>
              <a:rPr lang="en-US" sz="1800" dirty="0" err="1"/>
              <a:t>sortOrder</a:t>
            </a:r>
            <a:r>
              <a:rPr lang="en-US" sz="1800" dirty="0"/>
              <a:t>": [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    "</a:t>
            </a:r>
            <a:r>
              <a:rPr lang="en-US" sz="1800" dirty="0" err="1"/>
              <a:t>asc</a:t>
            </a:r>
            <a:r>
              <a:rPr lang="en-US" sz="1800" dirty="0"/>
              <a:t>"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    ]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00" dirty="0"/>
              <a:t>}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65A901B8-9134-0D7A-6289-E8E773245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</p:spTree>
    <p:extLst>
      <p:ext uri="{BB962C8B-B14F-4D97-AF65-F5344CB8AC3E}">
        <p14:creationId xmlns:p14="http://schemas.microsoft.com/office/powerpoint/2010/main" val="1844980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6F02E-61BC-EF4A-C6A9-F277F7C07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 </a:t>
            </a:r>
            <a:r>
              <a:rPr lang="en-US" dirty="0" err="1"/>
              <a:t>Zontal</a:t>
            </a:r>
            <a:r>
              <a:rPr lang="en-US" dirty="0"/>
              <a:t> - Download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E99DBC-C6DF-E648-1A71-0FFDF8F444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6408" y="1825625"/>
            <a:ext cx="7079183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EA527A-BDFD-6C51-BE31-A9097EB24AE3}"/>
              </a:ext>
            </a:extLst>
          </p:cNvPr>
          <p:cNvSpPr txBox="1"/>
          <p:nvPr/>
        </p:nvSpPr>
        <p:spPr>
          <a:xfrm>
            <a:off x="9655629" y="1825625"/>
            <a:ext cx="2057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Download results where file has extension .</a:t>
            </a:r>
            <a:r>
              <a:rPr lang="en-US" dirty="0" err="1"/>
              <a:t>asm</a:t>
            </a:r>
            <a:r>
              <a:rPr lang="en-US" dirty="0"/>
              <a:t> (processed results file with a VNF (vendor neutral format) information package profile.</a:t>
            </a:r>
          </a:p>
        </p:txBody>
      </p:sp>
    </p:spTree>
    <p:extLst>
      <p:ext uri="{BB962C8B-B14F-4D97-AF65-F5344CB8AC3E}">
        <p14:creationId xmlns:p14="http://schemas.microsoft.com/office/powerpoint/2010/main" val="281022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E2A19A-4D10-0564-B3EE-F2A86D89A3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8514" y="861999"/>
            <a:ext cx="8227278" cy="575494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AD96186-AC77-B707-273A-D57B07C4B896}"/>
              </a:ext>
            </a:extLst>
          </p:cNvPr>
          <p:cNvSpPr/>
          <p:nvPr/>
        </p:nvSpPr>
        <p:spPr>
          <a:xfrm>
            <a:off x="6447808" y="1704826"/>
            <a:ext cx="344026" cy="164780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86308E-4E00-B7E0-3848-06CFE6385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153" y="3346229"/>
            <a:ext cx="4094538" cy="3099738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2A1CEE-5AFF-8923-4377-AD5336E84EB4}"/>
              </a:ext>
            </a:extLst>
          </p:cNvPr>
          <p:cNvSpPr/>
          <p:nvPr/>
        </p:nvSpPr>
        <p:spPr>
          <a:xfrm>
            <a:off x="6323442" y="5011964"/>
            <a:ext cx="715432" cy="135334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49BDD8D-0881-2CEE-A28A-01440FE14165}"/>
              </a:ext>
            </a:extLst>
          </p:cNvPr>
          <p:cNvSpPr/>
          <p:nvPr/>
        </p:nvSpPr>
        <p:spPr>
          <a:xfrm>
            <a:off x="6320103" y="5171462"/>
            <a:ext cx="462587" cy="135334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EA7C82-4B75-7589-9E6B-DC851D551821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6619821" y="1869606"/>
            <a:ext cx="1079601" cy="147662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F1795B7-99C0-E688-06DC-97F5246AA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6874"/>
          </a:xfrm>
        </p:spPr>
        <p:txBody>
          <a:bodyPr>
            <a:normAutofit fontScale="90000"/>
          </a:bodyPr>
          <a:lstStyle/>
          <a:p>
            <a:r>
              <a:rPr lang="en-US" dirty="0"/>
              <a:t>API </a:t>
            </a:r>
            <a:r>
              <a:rPr lang="en-US" dirty="0" err="1"/>
              <a:t>Zontal</a:t>
            </a:r>
            <a:r>
              <a:rPr lang="en-US" dirty="0"/>
              <a:t> – Download – Identifier &amp; Title Lookup</a:t>
            </a:r>
          </a:p>
        </p:txBody>
      </p:sp>
    </p:spTree>
    <p:extLst>
      <p:ext uri="{BB962C8B-B14F-4D97-AF65-F5344CB8AC3E}">
        <p14:creationId xmlns:p14="http://schemas.microsoft.com/office/powerpoint/2010/main" val="4277093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BC3B2B-58C6-EE23-7088-3832B30DB6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090" y="862000"/>
            <a:ext cx="9593014" cy="3753374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7BC04992-3B8C-3D6D-A56D-41E5F618F3E7}"/>
              </a:ext>
            </a:extLst>
          </p:cNvPr>
          <p:cNvSpPr/>
          <p:nvPr/>
        </p:nvSpPr>
        <p:spPr>
          <a:xfrm>
            <a:off x="10204315" y="2898843"/>
            <a:ext cx="978408" cy="484632"/>
          </a:xfrm>
          <a:prstGeom prst="rightArrow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97132"/>
                </a:solidFill>
              </a:rPr>
              <a:t>UNZIP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3CF684B-3FD1-F213-C18A-E38BA9FB8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6874"/>
          </a:xfrm>
        </p:spPr>
        <p:txBody>
          <a:bodyPr>
            <a:normAutofit fontScale="90000"/>
          </a:bodyPr>
          <a:lstStyle/>
          <a:p>
            <a:r>
              <a:rPr lang="en-US" dirty="0"/>
              <a:t>API </a:t>
            </a:r>
            <a:r>
              <a:rPr lang="en-US" dirty="0" err="1"/>
              <a:t>Zontal</a:t>
            </a:r>
            <a:r>
              <a:rPr lang="en-US" dirty="0"/>
              <a:t> – Download &amp; Unzip</a:t>
            </a:r>
          </a:p>
        </p:txBody>
      </p:sp>
    </p:spTree>
    <p:extLst>
      <p:ext uri="{BB962C8B-B14F-4D97-AF65-F5344CB8AC3E}">
        <p14:creationId xmlns:p14="http://schemas.microsoft.com/office/powerpoint/2010/main" val="3313264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E2BB29-D8FE-3929-834F-36FEB1C5A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$</a:t>
            </a:r>
            <a:r>
              <a:rPr lang="en-US" dirty="0" err="1"/>
              <a:t>asm.manifest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Get </a:t>
            </a:r>
            <a:r>
              <a:rPr lang="en-US" dirty="0" err="1"/>
              <a:t>json</a:t>
            </a:r>
            <a:r>
              <a:rPr lang="en-US" dirty="0"/>
              <a:t>-schemas[0] from </a:t>
            </a:r>
            <a:r>
              <a:rPr lang="en-US" dirty="0" err="1"/>
              <a:t>ftir.manifest</a:t>
            </a:r>
            <a:br>
              <a:rPr lang="en-US" dirty="0"/>
            </a:b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3CF684B-3FD1-F213-C18A-E38BA9FB8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Processing Measurement File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88511B3-0DC6-6EA6-E388-1FFFA776FA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72525" y="770731"/>
          <a:ext cx="30956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3095593" imgH="514350" progId="Package">
                  <p:embed/>
                </p:oleObj>
              </mc:Choice>
              <mc:Fallback>
                <p:oleObj name="Packager Shell Object" showAsIcon="1" r:id="rId2" imgW="3095593" imgH="514350" progId="Package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E88511B3-0DC6-6EA6-E388-1FFFA776FA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772525" y="770731"/>
                        <a:ext cx="309562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FD88A164-42DB-2654-144B-C4B40579D0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2270105"/>
            <a:ext cx="7278116" cy="628738"/>
          </a:xfrm>
          <a:prstGeom prst="rect">
            <a:avLst/>
          </a:prstGeom>
        </p:spPr>
      </p:pic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CBFEE219-10A7-8AC6-81BF-7B208EF282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48812" y="2451962"/>
          <a:ext cx="7715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5" imgW="771620" imgH="514350" progId="Package">
                  <p:embed/>
                </p:oleObj>
              </mc:Choice>
              <mc:Fallback>
                <p:oleObj name="Packager Shell Object" showAsIcon="1" r:id="rId5" imgW="771620" imgH="514350" progId="Package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CBFEE219-10A7-8AC6-81BF-7B208EF282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548812" y="2451962"/>
                        <a:ext cx="77152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22117EC4-AD89-C647-F393-F32211261E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00" y="3768370"/>
            <a:ext cx="6315956" cy="2543530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4E2571D-9772-7419-7713-D44A8DE7B142}"/>
              </a:ext>
            </a:extLst>
          </p:cNvPr>
          <p:cNvSpPr/>
          <p:nvPr/>
        </p:nvSpPr>
        <p:spPr>
          <a:xfrm>
            <a:off x="2014803" y="4666636"/>
            <a:ext cx="5414697" cy="248263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ED82270-D5C5-F6D3-25BF-D64E3FA588E9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8497316" y="2709137"/>
            <a:ext cx="1051496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1614A2EB-3796-A29C-AF25-6226FEE94C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77386" y="4525785"/>
          <a:ext cx="7143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8" imgW="714508" imgH="514350" progId="Package">
                  <p:embed/>
                </p:oleObj>
              </mc:Choice>
              <mc:Fallback>
                <p:oleObj name="Packager Shell Object" showAsIcon="1" r:id="rId8" imgW="714508" imgH="514350" progId="Package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1614A2EB-3796-A29C-AF25-6226FEE94C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577386" y="4525785"/>
                        <a:ext cx="7143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096D1CA-87F5-AE88-36FF-76E7078024F3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 flipV="1">
            <a:off x="7429500" y="4782960"/>
            <a:ext cx="2147886" cy="7808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595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E2BB29-D8FE-3929-834F-36FEB1C5A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Schema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3CF684B-3FD1-F213-C18A-E38BA9FB8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Processing Measurement File</a:t>
            </a:r>
            <a:r>
              <a:rPr lang="en-US" sz="3200" dirty="0"/>
              <a:t> (</a:t>
            </a:r>
            <a:r>
              <a:rPr lang="en-US" sz="3200" dirty="0" err="1"/>
              <a:t>C’ted</a:t>
            </a:r>
            <a:r>
              <a:rPr lang="en-US" sz="3200" dirty="0"/>
              <a:t>)</a:t>
            </a: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88511B3-0DC6-6EA6-E388-1FFFA776FA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8123774"/>
              </p:ext>
            </p:extLst>
          </p:nvPr>
        </p:nvGraphicFramePr>
        <p:xfrm>
          <a:off x="8772525" y="770731"/>
          <a:ext cx="30956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3095593" imgH="514350" progId="Package">
                  <p:embed/>
                </p:oleObj>
              </mc:Choice>
              <mc:Fallback>
                <p:oleObj name="Packager Shell Object" showAsIcon="1" r:id="rId2" imgW="3095593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772525" y="770731"/>
                        <a:ext cx="309562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87C6DC10-5A14-BA40-ADCD-3EC2F56F2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7319" y="2261966"/>
            <a:ext cx="6668431" cy="3172268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4E2571D-9772-7419-7713-D44A8DE7B142}"/>
              </a:ext>
            </a:extLst>
          </p:cNvPr>
          <p:cNvSpPr/>
          <p:nvPr/>
        </p:nvSpPr>
        <p:spPr>
          <a:xfrm>
            <a:off x="1986229" y="3133392"/>
            <a:ext cx="2928671" cy="248263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1689958-9797-91DF-EBDE-9F8EEDFFEC7F}"/>
              </a:ext>
            </a:extLst>
          </p:cNvPr>
          <p:cNvSpPr/>
          <p:nvPr/>
        </p:nvSpPr>
        <p:spPr>
          <a:xfrm>
            <a:off x="1986229" y="3504757"/>
            <a:ext cx="2928671" cy="248263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8A52252-964A-390B-DB33-0B98F0028D4D}"/>
              </a:ext>
            </a:extLst>
          </p:cNvPr>
          <p:cNvSpPr/>
          <p:nvPr/>
        </p:nvSpPr>
        <p:spPr>
          <a:xfrm>
            <a:off x="1986229" y="3876122"/>
            <a:ext cx="2928671" cy="248263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7061A7D-8161-D8AA-55FD-E3E0F7CC8E2A}"/>
              </a:ext>
            </a:extLst>
          </p:cNvPr>
          <p:cNvSpPr/>
          <p:nvPr/>
        </p:nvSpPr>
        <p:spPr>
          <a:xfrm>
            <a:off x="1986228" y="4231332"/>
            <a:ext cx="2928671" cy="248263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08FE6BA-B0DD-B505-7EA9-64893A5189D2}"/>
              </a:ext>
            </a:extLst>
          </p:cNvPr>
          <p:cNvSpPr/>
          <p:nvPr/>
        </p:nvSpPr>
        <p:spPr>
          <a:xfrm>
            <a:off x="1986227" y="4593112"/>
            <a:ext cx="2928671" cy="248263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9195428-A172-2B3B-F35D-AEE060E2C087}"/>
              </a:ext>
            </a:extLst>
          </p:cNvPr>
          <p:cNvSpPr/>
          <p:nvPr/>
        </p:nvSpPr>
        <p:spPr>
          <a:xfrm>
            <a:off x="1986227" y="4954892"/>
            <a:ext cx="2928671" cy="248263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626AAAE-A646-3123-598D-0E5C25DB98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6761" y="5016336"/>
            <a:ext cx="7621064" cy="1076475"/>
          </a:xfrm>
          <a:prstGeom prst="rect">
            <a:avLst/>
          </a:prstGeom>
          <a:ln>
            <a:solidFill>
              <a:srgbClr val="E97132"/>
            </a:solidFill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1C9187B-9788-193D-B2C5-64FED0CA14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6761" y="3059882"/>
            <a:ext cx="6144482" cy="1295581"/>
          </a:xfrm>
          <a:prstGeom prst="rect">
            <a:avLst/>
          </a:prstGeom>
          <a:ln>
            <a:solidFill>
              <a:srgbClr val="E97132"/>
            </a:solidFill>
          </a:ln>
        </p:spPr>
      </p:pic>
    </p:spTree>
    <p:extLst>
      <p:ext uri="{BB962C8B-B14F-4D97-AF65-F5344CB8AC3E}">
        <p14:creationId xmlns:p14="http://schemas.microsoft.com/office/powerpoint/2010/main" val="3629667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E2BB29-D8FE-3929-834F-36FEB1C5A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275"/>
            <a:ext cx="10515600" cy="473868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Build a field catalog directly from an Allotrope ASM JSON Schema (e.g. </a:t>
            </a:r>
            <a:r>
              <a:rPr lang="en-US" dirty="0" err="1"/>
              <a:t>ftir.schema</a:t>
            </a:r>
            <a:r>
              <a:rPr lang="en-US" dirty="0"/>
              <a:t>), instead of from an actual measurement file.</a:t>
            </a:r>
          </a:p>
          <a:p>
            <a:pPr marL="0" indent="0">
              <a:buNone/>
            </a:pPr>
            <a:r>
              <a:rPr lang="en-US" dirty="0"/>
              <a:t>It acts as template to join with an actual measurements file.</a:t>
            </a:r>
          </a:p>
          <a:p>
            <a:pPr marL="0" indent="0">
              <a:buNone/>
            </a:pPr>
            <a:r>
              <a:rPr lang="en-US" dirty="0"/>
              <a:t>Units are known where the schema pins them via a "$</a:t>
            </a:r>
            <a:r>
              <a:rPr lang="en-US" dirty="0" err="1"/>
              <a:t>defs</a:t>
            </a:r>
            <a:r>
              <a:rPr lang="en-US" dirty="0"/>
              <a:t>/&lt;unit&gt;" $ref (quantity datum) or via a </a:t>
            </a:r>
            <a:r>
              <a:rPr lang="en-US" dirty="0" err="1"/>
              <a:t>datacube’s</a:t>
            </a:r>
            <a:r>
              <a:rPr lang="en-US" dirty="0"/>
              <a:t> cube-structure constants.</a:t>
            </a:r>
          </a:p>
          <a:p>
            <a:pPr marL="0" indent="0">
              <a:buNone/>
            </a:pPr>
            <a:r>
              <a:rPr lang="en-US" dirty="0"/>
              <a:t>Recognized "$</a:t>
            </a:r>
            <a:r>
              <a:rPr lang="en-US" dirty="0" err="1"/>
              <a:t>asm.pattern</a:t>
            </a:r>
            <a:r>
              <a:rPr lang="en-US" dirty="0"/>
              <a:t>" values:</a:t>
            </a:r>
          </a:p>
          <a:p>
            <a:r>
              <a:rPr lang="en-US" dirty="0"/>
              <a:t>"aggregate datum": a container -&gt; recurse into its "properties".</a:t>
            </a:r>
          </a:p>
          <a:p>
            <a:r>
              <a:rPr lang="en-US" dirty="0"/>
              <a:t>"</a:t>
            </a:r>
            <a:r>
              <a:rPr lang="en-US" b="1" u="sng" dirty="0"/>
              <a:t>quantity datum</a:t>
            </a:r>
            <a:r>
              <a:rPr lang="en-US" dirty="0"/>
              <a:t>": a {value, unit} leaf -&gt; unit taken from the </a:t>
            </a:r>
            <a:r>
              <a:rPr lang="en-US" dirty="0" err="1"/>
              <a:t>units.schema</a:t>
            </a:r>
            <a:r>
              <a:rPr lang="en-US" dirty="0"/>
              <a:t> $ref. </a:t>
            </a:r>
          </a:p>
          <a:p>
            <a:r>
              <a:rPr lang="en-US" dirty="0"/>
              <a:t>"</a:t>
            </a:r>
            <a:r>
              <a:rPr lang="en-US" b="1" u="sng" dirty="0"/>
              <a:t>value datum</a:t>
            </a:r>
            <a:r>
              <a:rPr lang="en-US" dirty="0"/>
              <a:t>": a plain value leaf -&gt; unit is always null. </a:t>
            </a:r>
          </a:p>
          <a:p>
            <a:r>
              <a:rPr lang="en-US" dirty="0"/>
              <a:t>"</a:t>
            </a:r>
            <a:r>
              <a:rPr lang="en-US" b="1" u="sng" dirty="0" err="1"/>
              <a:t>datacube</a:t>
            </a:r>
            <a:r>
              <a:rPr lang="en-US" dirty="0"/>
              <a:t>": an Allotrope data cube -&gt; described (dimensions/measures), not expanded.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3CF684B-3FD1-F213-C18A-E38BA9FB8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6925"/>
          </a:xfrm>
        </p:spPr>
        <p:txBody>
          <a:bodyPr>
            <a:normAutofit/>
          </a:bodyPr>
          <a:lstStyle/>
          <a:p>
            <a:r>
              <a:rPr lang="en-US" dirty="0"/>
              <a:t>Transform Schema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FFC1E5-0220-4DDD-7FD1-ECB669B20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9011" y="5133076"/>
            <a:ext cx="2524477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607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38CD8-A0DD-9F0C-F3C2-6840F403B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 -&gt; Field Catalog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2F957-7E66-E9E0-B43A-97978E47D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0733" y="1690688"/>
            <a:ext cx="4356370" cy="4351338"/>
          </a:xfrm>
        </p:spPr>
        <p:txBody>
          <a:bodyPr>
            <a:normAutofit/>
          </a:bodyPr>
          <a:lstStyle/>
          <a:p>
            <a:r>
              <a:rPr lang="en-US" dirty="0"/>
              <a:t>For each property with pattern “quantity datum” or “value datum”, add an entry to the field catalog: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510713-018F-ED24-B874-65C9BF392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041" y="3347783"/>
            <a:ext cx="1448002" cy="18195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A4B002-9383-BF48-B629-A06D72D93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934" y="2361807"/>
            <a:ext cx="1590897" cy="379147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819729A-E95F-877A-C1CC-252E7299B952}"/>
              </a:ext>
            </a:extLst>
          </p:cNvPr>
          <p:cNvSpPr txBox="1">
            <a:spLocks/>
          </p:cNvSpPr>
          <p:nvPr/>
        </p:nvSpPr>
        <p:spPr>
          <a:xfrm>
            <a:off x="7222185" y="624380"/>
            <a:ext cx="435637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each property with pattern “</a:t>
            </a:r>
            <a:r>
              <a:rPr lang="en-US" dirty="0" err="1"/>
              <a:t>datacube</a:t>
            </a:r>
            <a:r>
              <a:rPr lang="en-US" dirty="0"/>
              <a:t>”, add an entry to the field catalog: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401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38CD8-A0DD-9F0C-F3C2-6840F403B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 -&gt; Field Catalog: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2F957-7E66-E9E0-B43A-97978E47D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E80710E-AE83-D519-2A42-B2776CBE22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5438730"/>
              </p:ext>
            </p:extLst>
          </p:nvPr>
        </p:nvGraphicFramePr>
        <p:xfrm>
          <a:off x="9832975" y="770731"/>
          <a:ext cx="16478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647743" imgH="514350" progId="Package">
                  <p:embed/>
                </p:oleObj>
              </mc:Choice>
              <mc:Fallback>
                <p:oleObj name="Packager Shell Object" showAsIcon="1" r:id="rId2" imgW="1647743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832975" y="770731"/>
                        <a:ext cx="164782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568D9790-6E38-1A6F-B661-C0668ACC95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203" y="1457764"/>
            <a:ext cx="5353797" cy="25435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6C5169-7262-EA7F-3585-F047C965C2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997" y="1457764"/>
            <a:ext cx="5430008" cy="45250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B9211E-10D1-52EC-AF1A-E1F8BA998C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203" y="4111318"/>
            <a:ext cx="5363323" cy="220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29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E1DC9045-122F-5CF3-216F-53819F02D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525" y="1115571"/>
            <a:ext cx="5372850" cy="25816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90B844-515A-0520-79E4-4165F6E79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375" y="1260664"/>
            <a:ext cx="5941922" cy="631508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Measurement File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8B14AC-2B87-7F0F-A148-8730D133DB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053048" y="3729990"/>
            <a:ext cx="5352752" cy="25422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204B93-ABDB-4D93-4B16-D92899F15E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2950" y="1842149"/>
            <a:ext cx="3848637" cy="329611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CDBDC8-B219-654E-CADF-6AC074D401AF}"/>
              </a:ext>
            </a:extLst>
          </p:cNvPr>
          <p:cNvSpPr/>
          <p:nvPr/>
        </p:nvSpPr>
        <p:spPr>
          <a:xfrm>
            <a:off x="8011743" y="4585812"/>
            <a:ext cx="409499" cy="161615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06428A9-42ED-95E8-1041-86DE518D6BED}"/>
              </a:ext>
            </a:extLst>
          </p:cNvPr>
          <p:cNvSpPr/>
          <p:nvPr/>
        </p:nvSpPr>
        <p:spPr>
          <a:xfrm>
            <a:off x="7954593" y="4755047"/>
            <a:ext cx="409499" cy="161615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FC2B5CF-06E7-7955-F829-1EAFBD9BA8EF}"/>
              </a:ext>
            </a:extLst>
          </p:cNvPr>
          <p:cNvSpPr/>
          <p:nvPr/>
        </p:nvSpPr>
        <p:spPr>
          <a:xfrm>
            <a:off x="1831923" y="5189781"/>
            <a:ext cx="409499" cy="161615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85F1880-A4CB-14E4-1589-8B07AF113F03}"/>
              </a:ext>
            </a:extLst>
          </p:cNvPr>
          <p:cNvSpPr/>
          <p:nvPr/>
        </p:nvSpPr>
        <p:spPr>
          <a:xfrm>
            <a:off x="1809063" y="5375408"/>
            <a:ext cx="409499" cy="161615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4CFC97D-606F-6A0E-065C-2A8580A46E88}"/>
              </a:ext>
            </a:extLst>
          </p:cNvPr>
          <p:cNvCxnSpPr>
            <a:stCxn id="9" idx="1"/>
            <a:endCxn id="13" idx="3"/>
          </p:cNvCxnSpPr>
          <p:nvPr/>
        </p:nvCxnSpPr>
        <p:spPr>
          <a:xfrm flipH="1">
            <a:off x="2241422" y="4666620"/>
            <a:ext cx="5770321" cy="60396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DDAA885-B3F2-3CC1-4472-A54A51393C8F}"/>
              </a:ext>
            </a:extLst>
          </p:cNvPr>
          <p:cNvCxnSpPr>
            <a:stCxn id="12" idx="1"/>
            <a:endCxn id="14" idx="3"/>
          </p:cNvCxnSpPr>
          <p:nvPr/>
        </p:nvCxnSpPr>
        <p:spPr>
          <a:xfrm flipH="1">
            <a:off x="2218562" y="4835855"/>
            <a:ext cx="5736031" cy="620361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DD39E50-45E3-DB0E-FCC6-B426A94FDC0F}"/>
              </a:ext>
            </a:extLst>
          </p:cNvPr>
          <p:cNvSpPr/>
          <p:nvPr/>
        </p:nvSpPr>
        <p:spPr>
          <a:xfrm>
            <a:off x="1839543" y="2787872"/>
            <a:ext cx="409499" cy="161615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7FBDFF8-5921-55E4-16A3-DA54DA1F54CA}"/>
              </a:ext>
            </a:extLst>
          </p:cNvPr>
          <p:cNvSpPr/>
          <p:nvPr/>
        </p:nvSpPr>
        <p:spPr>
          <a:xfrm>
            <a:off x="1839543" y="2585853"/>
            <a:ext cx="409499" cy="161615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5CE5EF8-2257-F067-77BD-2C3F25369E50}"/>
              </a:ext>
            </a:extLst>
          </p:cNvPr>
          <p:cNvSpPr/>
          <p:nvPr/>
        </p:nvSpPr>
        <p:spPr>
          <a:xfrm>
            <a:off x="8031934" y="3127025"/>
            <a:ext cx="409499" cy="161615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13125E3-707A-1817-42C7-99A5AD0C8E8E}"/>
              </a:ext>
            </a:extLst>
          </p:cNvPr>
          <p:cNvSpPr/>
          <p:nvPr/>
        </p:nvSpPr>
        <p:spPr>
          <a:xfrm>
            <a:off x="7982142" y="3319135"/>
            <a:ext cx="548448" cy="161615"/>
          </a:xfrm>
          <a:prstGeom prst="roundRect">
            <a:avLst/>
          </a:prstGeom>
          <a:solidFill>
            <a:srgbClr val="E97132">
              <a:alpha val="25098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5092CCC-D2DD-5AC4-C158-F9CB20DFFD02}"/>
              </a:ext>
            </a:extLst>
          </p:cNvPr>
          <p:cNvCxnSpPr>
            <a:stCxn id="29" idx="1"/>
            <a:endCxn id="27" idx="3"/>
          </p:cNvCxnSpPr>
          <p:nvPr/>
        </p:nvCxnSpPr>
        <p:spPr>
          <a:xfrm flipH="1" flipV="1">
            <a:off x="2249042" y="2666661"/>
            <a:ext cx="5782892" cy="54117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477ACEA-B343-1C37-38EF-32161DCB5ACF}"/>
              </a:ext>
            </a:extLst>
          </p:cNvPr>
          <p:cNvCxnSpPr>
            <a:stCxn id="31" idx="1"/>
            <a:endCxn id="24" idx="3"/>
          </p:cNvCxnSpPr>
          <p:nvPr/>
        </p:nvCxnSpPr>
        <p:spPr>
          <a:xfrm flipH="1" flipV="1">
            <a:off x="2249042" y="2868680"/>
            <a:ext cx="5733100" cy="53126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7B3F7C5-0A26-F6BA-13FA-E7453D2ED03E}"/>
              </a:ext>
            </a:extLst>
          </p:cNvPr>
          <p:cNvSpPr txBox="1"/>
          <p:nvPr/>
        </p:nvSpPr>
        <p:spPr>
          <a:xfrm>
            <a:off x="985325" y="439369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Field Catalog</a:t>
            </a:r>
            <a:endParaRPr lang="en-US" dirty="0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4237C6F3-270D-855E-2716-92A2243235FF}"/>
              </a:ext>
            </a:extLst>
          </p:cNvPr>
          <p:cNvSpPr txBox="1">
            <a:spLocks/>
          </p:cNvSpPr>
          <p:nvPr/>
        </p:nvSpPr>
        <p:spPr>
          <a:xfrm>
            <a:off x="5285405" y="212393"/>
            <a:ext cx="5941922" cy="631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“Join”</a:t>
            </a:r>
          </a:p>
        </p:txBody>
      </p:sp>
    </p:spTree>
    <p:extLst>
      <p:ext uri="{BB962C8B-B14F-4D97-AF65-F5344CB8AC3E}">
        <p14:creationId xmlns:p14="http://schemas.microsoft.com/office/powerpoint/2010/main" val="12271062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96DC5-DCE3-C2CA-B97C-27A7E29C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12725"/>
            <a:ext cx="8553450" cy="320675"/>
          </a:xfrm>
        </p:spPr>
        <p:txBody>
          <a:bodyPr>
            <a:normAutofit fontScale="90000"/>
          </a:bodyPr>
          <a:lstStyle/>
          <a:p>
            <a:r>
              <a:rPr lang="en-US" dirty="0"/>
              <a:t>Export towards Signals ELN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97BF95-8CF3-A42A-5047-F30AD8FD5D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44"/>
          <a:stretch>
            <a:fillRect/>
          </a:stretch>
        </p:blipFill>
        <p:spPr>
          <a:xfrm>
            <a:off x="1905000" y="3793556"/>
            <a:ext cx="10287000" cy="30644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4BBDC9-F486-B78F-598D-7EBC28ECCC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940"/>
          <a:stretch>
            <a:fillRect/>
          </a:stretch>
        </p:blipFill>
        <p:spPr>
          <a:xfrm>
            <a:off x="1" y="729113"/>
            <a:ext cx="11811000" cy="3064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589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97132">
            <a:alpha val="25098"/>
          </a:srgbClr>
        </a:solidFill>
        <a:ln>
          <a:solidFill>
            <a:schemeClr val="accent2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ca48ea3-8c75-4d36-b64f-70604b11fd22}" enabled="1" method="Standard" siteId="{3ac94b33-9135-4821-9502-eafda6592a3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793</Words>
  <Application>Microsoft Office PowerPoint</Application>
  <PresentationFormat>Widescreen</PresentationFormat>
  <Paragraphs>103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Consolas</vt:lpstr>
      <vt:lpstr>Office Theme</vt:lpstr>
      <vt:lpstr>Packager Shell Object</vt:lpstr>
      <vt:lpstr>Get Zontal Access Token</vt:lpstr>
      <vt:lpstr>Query Information Packages on Zontal</vt:lpstr>
      <vt:lpstr>PowerPoint Presentation</vt:lpstr>
      <vt:lpstr>Example 2</vt:lpstr>
      <vt:lpstr>GUI Zontal - Download</vt:lpstr>
      <vt:lpstr>API Zontal – Download – Identifier &amp; Title Lookup</vt:lpstr>
      <vt:lpstr>API Zontal – Download &amp; Unzip</vt:lpstr>
      <vt:lpstr>Processing Measurement File</vt:lpstr>
      <vt:lpstr>Processing Measurement File (C’ted)</vt:lpstr>
      <vt:lpstr>Transform Schema</vt:lpstr>
      <vt:lpstr>Schema -&gt; Field Catalog</vt:lpstr>
      <vt:lpstr>Schema -&gt; Field Catalog: Examples</vt:lpstr>
      <vt:lpstr>Measurement File</vt:lpstr>
      <vt:lpstr>Export towards Signals ELN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Vanneste, Manu [JRDBE NON-J&amp;J]</dc:creator>
  <cp:lastModifiedBy>Vanneste, Manu [JRDBE NON-J&amp;J]</cp:lastModifiedBy>
  <cp:revision>6</cp:revision>
  <dcterms:created xsi:type="dcterms:W3CDTF">2026-09-14T07:36:21Z</dcterms:created>
  <dcterms:modified xsi:type="dcterms:W3CDTF">2026-09-14T15:00:17Z</dcterms:modified>
</cp:coreProperties>
</file>