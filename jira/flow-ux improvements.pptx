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12" autoAdjust="0"/>
    <p:restoredTop sz="94660"/>
  </p:normalViewPr>
  <p:slideViewPr>
    <p:cSldViewPr snapToGrid="0">
      <p:cViewPr varScale="1">
        <p:scale>
          <a:sx n="65" d="100"/>
          <a:sy n="65" d="100"/>
        </p:scale>
        <p:origin x="84" y="9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6052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A2A4CDE-1C13-35D7-4A46-705F3C5D990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57340"/>
            <a:ext cx="1030288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BE" sz="900">
                <a:solidFill>
                  <a:srgbClr val="CF022B">
                    <a:alpha val="50000"/>
                  </a:srgb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C2 - Restricted use </a:t>
            </a:r>
          </a:p>
        </p:txBody>
      </p:sp>
    </p:spTree>
    <p:extLst>
      <p:ext uri="{BB962C8B-B14F-4D97-AF65-F5344CB8AC3E}">
        <p14:creationId xmlns:p14="http://schemas.microsoft.com/office/powerpoint/2010/main" val="3690580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eyebrow">
            <a:extLst>
              <a:ext uri="{FF2B5EF4-FFF2-40B4-BE49-F238E27FC236}">
                <a16:creationId xmlns:a16="http://schemas.microsoft.com/office/drawing/2014/main" id="{33FF26E6-1752-43B5-A581-2F6E3AA125BF}"/>
              </a:ext>
            </a:extLst>
          </p:cNvPr>
          <p:cNvSpPr>
            <a:spLocks noGrp="1"/>
          </p:cNvSpPr>
          <p:nvPr/>
        </p:nvSpPr>
        <p:spPr>
          <a:xfrm>
            <a:off x="127525" y="389199"/>
            <a:ext cx="5158741" cy="94658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B8D4"/>
                </a:solidFill>
                <a:latin typeface="Aptos"/>
                <a:ea typeface="Aptos"/>
                <a:cs typeface="Aptos"/>
              </a:defRPr>
            </a:pPr>
            <a:r>
              <a:rPr lang="en-US" sz="2800" b="1" noProof="0" dirty="0">
                <a:solidFill>
                  <a:srgbClr val="15B8D4"/>
                </a:solidFill>
                <a:latin typeface="Aptos"/>
                <a:ea typeface="Aptos"/>
                <a:cs typeface="Aptos"/>
              </a:rPr>
              <a:t>Balance Interface: UX</a:t>
            </a:r>
          </a:p>
        </p:txBody>
      </p:sp>
      <p:sp>
        <p:nvSpPr>
          <p:cNvPr id="2" name="top-accent">
            <a:extLst>
              <a:ext uri="{FF2B5EF4-FFF2-40B4-BE49-F238E27FC236}">
                <a16:creationId xmlns:a16="http://schemas.microsoft.com/office/drawing/2014/main" id="{A49B4D51-3950-45E9-8C8A-1F08773EF6A1}"/>
              </a:ext>
            </a:extLst>
          </p:cNvPr>
          <p:cNvSpPr>
            <a:spLocks noGrp="1"/>
          </p:cNvSpPr>
          <p:nvPr/>
        </p:nvSpPr>
        <p:spPr>
          <a:xfrm>
            <a:off x="127525" y="1016699"/>
            <a:ext cx="400050" cy="47625"/>
          </a:xfrm>
          <a:prstGeom prst="rect">
            <a:avLst/>
          </a:prstGeom>
          <a:solidFill>
            <a:srgbClr val="15B8D4"/>
          </a:solidFill>
          <a:ln w="0">
            <a:solidFill>
              <a:srgbClr val="15B8D4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8" name="step-02">
            <a:extLst>
              <a:ext uri="{FF2B5EF4-FFF2-40B4-BE49-F238E27FC236}">
                <a16:creationId xmlns:a16="http://schemas.microsoft.com/office/drawing/2014/main" id="{7659D239-2460-4AB2-B893-E5F01A63176C}"/>
              </a:ext>
            </a:extLst>
          </p:cNvPr>
          <p:cNvSpPr>
            <a:spLocks noGrp="1"/>
          </p:cNvSpPr>
          <p:nvPr/>
        </p:nvSpPr>
        <p:spPr>
          <a:xfrm>
            <a:off x="3518425" y="1050036"/>
            <a:ext cx="1219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6B747C"/>
                </a:solidFill>
                <a:latin typeface="Aptos"/>
                <a:ea typeface="Aptos"/>
                <a:cs typeface="Aptos"/>
              </a:defRPr>
            </a:pPr>
            <a:r>
              <a:rPr lang="en-US" sz="1050" b="1" noProof="0" dirty="0">
                <a:solidFill>
                  <a:srgbClr val="6B747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node-Task-2255">
            <a:extLst>
              <a:ext uri="{FF2B5EF4-FFF2-40B4-BE49-F238E27FC236}">
                <a16:creationId xmlns:a16="http://schemas.microsoft.com/office/drawing/2014/main" id="{6CD0FBC2-262B-4C73-873D-744E8AEA4EDD}"/>
              </a:ext>
            </a:extLst>
          </p:cNvPr>
          <p:cNvSpPr>
            <a:spLocks noGrp="1"/>
          </p:cNvSpPr>
          <p:nvPr/>
        </p:nvSpPr>
        <p:spPr>
          <a:xfrm>
            <a:off x="3461275" y="1392936"/>
            <a:ext cx="1333500" cy="13335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5B8D4"/>
            </a:solidFill>
            <a:prstDash val="solid"/>
          </a:ln>
        </p:spPr>
        <p:txBody>
          <a:bodyPr wrap="none" lIns="38100" tIns="38100" rIns="38100" bIns="38100" anchor="ctr">
            <a:noAutofit/>
          </a:bodyPr>
          <a:lstStyle/>
          <a:p>
            <a:pPr algn="ctr">
              <a:defRPr sz="2100" b="1">
                <a:solidFill>
                  <a:srgbClr val="22272B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2100" b="1" noProof="0" dirty="0">
                <a:solidFill>
                  <a:srgbClr val="22272B"/>
                </a:solidFill>
                <a:latin typeface="Aptos Display"/>
                <a:ea typeface="Aptos Display"/>
                <a:cs typeface="Aptos Display"/>
              </a:rPr>
              <a:t>4409</a:t>
            </a:r>
          </a:p>
        </p:txBody>
      </p:sp>
      <p:sp>
        <p:nvSpPr>
          <p:cNvPr id="10" name="label-Task 2255">
            <a:extLst>
              <a:ext uri="{FF2B5EF4-FFF2-40B4-BE49-F238E27FC236}">
                <a16:creationId xmlns:a16="http://schemas.microsoft.com/office/drawing/2014/main" id="{C8430013-755E-476C-919B-A4FA84194D82}"/>
              </a:ext>
            </a:extLst>
          </p:cNvPr>
          <p:cNvSpPr>
            <a:spLocks noGrp="1"/>
          </p:cNvSpPr>
          <p:nvPr/>
        </p:nvSpPr>
        <p:spPr>
          <a:xfrm>
            <a:off x="3194575" y="2916936"/>
            <a:ext cx="1866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22272B"/>
                </a:solidFill>
                <a:latin typeface="Aptos"/>
                <a:ea typeface="Aptos"/>
                <a:cs typeface="Aptos"/>
              </a:defRPr>
            </a:pPr>
            <a:r>
              <a:rPr lang="en-US" sz="1500" b="1" noProof="0" dirty="0">
                <a:solidFill>
                  <a:srgbClr val="22272B"/>
                </a:solidFill>
                <a:latin typeface="Aptos"/>
                <a:ea typeface="Aptos"/>
                <a:cs typeface="Aptos"/>
              </a:rPr>
              <a:t>Story 4409</a:t>
            </a:r>
          </a:p>
        </p:txBody>
      </p:sp>
      <p:sp>
        <p:nvSpPr>
          <p:cNvPr id="11" name="role-datatables">
            <a:extLst>
              <a:ext uri="{FF2B5EF4-FFF2-40B4-BE49-F238E27FC236}">
                <a16:creationId xmlns:a16="http://schemas.microsoft.com/office/drawing/2014/main" id="{EF2196F1-878A-415E-A7EE-4391EBFB5A74}"/>
              </a:ext>
            </a:extLst>
          </p:cNvPr>
          <p:cNvSpPr>
            <a:spLocks noGrp="1"/>
          </p:cNvSpPr>
          <p:nvPr/>
        </p:nvSpPr>
        <p:spPr>
          <a:xfrm>
            <a:off x="3156475" y="3221736"/>
            <a:ext cx="19431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350">
                <a:solidFill>
                  <a:srgbClr val="6B747C"/>
                </a:solidFill>
                <a:latin typeface="Aptos"/>
                <a:ea typeface="Aptos"/>
                <a:cs typeface="Aptos"/>
              </a:defRPr>
            </a:pPr>
            <a:r>
              <a:rPr lang="en-US" sz="1350" dirty="0">
                <a:solidFill>
                  <a:srgbClr val="6B747C"/>
                </a:solidFill>
                <a:latin typeface="Aptos"/>
                <a:ea typeface="Aptos"/>
                <a:cs typeface="Aptos"/>
              </a:rPr>
              <a:t>c</a:t>
            </a:r>
            <a:r>
              <a:rPr lang="en-US" sz="1350" noProof="0" dirty="0" err="1">
                <a:solidFill>
                  <a:srgbClr val="6B747C"/>
                </a:solidFill>
                <a:latin typeface="Aptos"/>
                <a:ea typeface="Aptos"/>
                <a:cs typeface="Aptos"/>
              </a:rPr>
              <a:t>ollapsible</a:t>
            </a:r>
            <a:r>
              <a:rPr lang="en-US" sz="1350" noProof="0" dirty="0">
                <a:solidFill>
                  <a:srgbClr val="6B747C"/>
                </a:solidFill>
                <a:latin typeface="Aptos"/>
                <a:ea typeface="Aptos"/>
                <a:cs typeface="Aptos"/>
              </a:rPr>
              <a:t> panels &amp; datatables</a:t>
            </a:r>
          </a:p>
        </p:txBody>
      </p:sp>
      <p:sp>
        <p:nvSpPr>
          <p:cNvPr id="12" name="step-03">
            <a:extLst>
              <a:ext uri="{FF2B5EF4-FFF2-40B4-BE49-F238E27FC236}">
                <a16:creationId xmlns:a16="http://schemas.microsoft.com/office/drawing/2014/main" id="{09587A41-CE79-4A17-B5B0-52B8D32FABF4}"/>
              </a:ext>
            </a:extLst>
          </p:cNvPr>
          <p:cNvSpPr>
            <a:spLocks noGrp="1"/>
          </p:cNvSpPr>
          <p:nvPr/>
        </p:nvSpPr>
        <p:spPr>
          <a:xfrm>
            <a:off x="6200173" y="1050036"/>
            <a:ext cx="1219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6B747C"/>
                </a:solidFill>
                <a:latin typeface="Aptos"/>
                <a:ea typeface="Aptos"/>
                <a:cs typeface="Aptos"/>
              </a:defRPr>
            </a:pPr>
            <a:r>
              <a:rPr lang="en-US" sz="1050" b="1" noProof="0" dirty="0">
                <a:solidFill>
                  <a:srgbClr val="6B747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node-Task-4462">
            <a:extLst>
              <a:ext uri="{FF2B5EF4-FFF2-40B4-BE49-F238E27FC236}">
                <a16:creationId xmlns:a16="http://schemas.microsoft.com/office/drawing/2014/main" id="{95F177D1-DDF5-4B90-8E83-F15AD5510919}"/>
              </a:ext>
            </a:extLst>
          </p:cNvPr>
          <p:cNvSpPr>
            <a:spLocks noGrp="1"/>
          </p:cNvSpPr>
          <p:nvPr/>
        </p:nvSpPr>
        <p:spPr>
          <a:xfrm>
            <a:off x="6128275" y="1392936"/>
            <a:ext cx="1333500" cy="13335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5B8D4"/>
            </a:solidFill>
            <a:prstDash val="solid"/>
          </a:ln>
        </p:spPr>
        <p:txBody>
          <a:bodyPr wrap="none" lIns="38100" tIns="38100" rIns="38100" bIns="38100" anchor="ctr">
            <a:noAutofit/>
          </a:bodyPr>
          <a:lstStyle/>
          <a:p>
            <a:pPr algn="ctr">
              <a:defRPr sz="2100" b="1">
                <a:solidFill>
                  <a:srgbClr val="22272B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2100" b="1" noProof="0" dirty="0">
                <a:solidFill>
                  <a:srgbClr val="22272B"/>
                </a:solidFill>
                <a:latin typeface="Aptos Display"/>
                <a:ea typeface="Aptos Display"/>
                <a:cs typeface="Aptos Display"/>
              </a:rPr>
              <a:t>4411</a:t>
            </a:r>
          </a:p>
        </p:txBody>
      </p:sp>
      <p:sp>
        <p:nvSpPr>
          <p:cNvPr id="14" name="label-Task 4462">
            <a:extLst>
              <a:ext uri="{FF2B5EF4-FFF2-40B4-BE49-F238E27FC236}">
                <a16:creationId xmlns:a16="http://schemas.microsoft.com/office/drawing/2014/main" id="{B21EF4D9-84FF-41BB-AFF6-CD092A8B41A3}"/>
              </a:ext>
            </a:extLst>
          </p:cNvPr>
          <p:cNvSpPr>
            <a:spLocks noGrp="1"/>
          </p:cNvSpPr>
          <p:nvPr/>
        </p:nvSpPr>
        <p:spPr>
          <a:xfrm>
            <a:off x="5861575" y="2916936"/>
            <a:ext cx="1866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22272B"/>
                </a:solidFill>
                <a:latin typeface="Aptos"/>
                <a:ea typeface="Aptos"/>
                <a:cs typeface="Aptos"/>
              </a:defRPr>
            </a:pPr>
            <a:r>
              <a:rPr lang="en-US" sz="1500" b="1" noProof="0" dirty="0">
                <a:solidFill>
                  <a:srgbClr val="22272B"/>
                </a:solidFill>
                <a:latin typeface="Aptos"/>
                <a:ea typeface="Aptos"/>
                <a:cs typeface="Aptos"/>
              </a:rPr>
              <a:t>Story 4411</a:t>
            </a:r>
          </a:p>
        </p:txBody>
      </p:sp>
      <p:sp>
        <p:nvSpPr>
          <p:cNvPr id="15" name="role-export">
            <a:extLst>
              <a:ext uri="{FF2B5EF4-FFF2-40B4-BE49-F238E27FC236}">
                <a16:creationId xmlns:a16="http://schemas.microsoft.com/office/drawing/2014/main" id="{DA9F01E5-3C7E-422E-961C-7D2C8E89EB55}"/>
              </a:ext>
            </a:extLst>
          </p:cNvPr>
          <p:cNvSpPr>
            <a:spLocks noGrp="1"/>
          </p:cNvSpPr>
          <p:nvPr/>
        </p:nvSpPr>
        <p:spPr>
          <a:xfrm>
            <a:off x="5823475" y="3221736"/>
            <a:ext cx="19431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350">
                <a:solidFill>
                  <a:srgbClr val="6B747C"/>
                </a:solidFill>
                <a:latin typeface="Aptos"/>
                <a:ea typeface="Aptos"/>
                <a:cs typeface="Aptos"/>
              </a:defRPr>
            </a:pPr>
            <a:r>
              <a:rPr lang="en-US" sz="1350" dirty="0">
                <a:solidFill>
                  <a:srgbClr val="6B747C"/>
                </a:solidFill>
                <a:latin typeface="Aptos"/>
                <a:ea typeface="Aptos"/>
                <a:cs typeface="Aptos"/>
              </a:rPr>
              <a:t>add column “Description”</a:t>
            </a:r>
          </a:p>
        </p:txBody>
      </p:sp>
      <p:cxnSp>
        <p:nvCxnSpPr>
          <p:cNvPr id="21" name="Straight Arrow Connector 20"/>
          <p:cNvCxnSpPr>
            <a:stCxn id="9" idx="6"/>
            <a:endCxn id="13" idx="2"/>
          </p:cNvCxnSpPr>
          <p:nvPr/>
        </p:nvCxnSpPr>
        <p:spPr>
          <a:xfrm>
            <a:off x="4794775" y="2059686"/>
            <a:ext cx="1333500" cy="0"/>
          </a:xfrm>
          <a:prstGeom prst="straightConnector1">
            <a:avLst/>
          </a:prstGeom>
          <a:ln w="47625" cap="rnd">
            <a:solidFill>
              <a:srgbClr val="A9DDE5"/>
            </a:solidFill>
            <a:prstDash val="solid"/>
            <a:tailEnd type="arrow" w="med" len="med"/>
          </a:ln>
        </p:spPr>
      </p:cxnSp>
      <p:sp>
        <p:nvSpPr>
          <p:cNvPr id="40" name="top-accent">
            <a:extLst>
              <a:ext uri="{FF2B5EF4-FFF2-40B4-BE49-F238E27FC236}">
                <a16:creationId xmlns:a16="http://schemas.microsoft.com/office/drawing/2014/main" id="{38255057-F50D-0F34-4A2D-D7C2726FDE9B}"/>
              </a:ext>
            </a:extLst>
          </p:cNvPr>
          <p:cNvSpPr>
            <a:spLocks noGrp="1"/>
          </p:cNvSpPr>
          <p:nvPr/>
        </p:nvSpPr>
        <p:spPr>
          <a:xfrm>
            <a:off x="252493" y="4195763"/>
            <a:ext cx="400050" cy="47625"/>
          </a:xfrm>
          <a:prstGeom prst="rect">
            <a:avLst/>
          </a:prstGeom>
          <a:solidFill>
            <a:srgbClr val="15B8D4"/>
          </a:solidFill>
          <a:ln w="0">
            <a:solidFill>
              <a:srgbClr val="15B8D4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4" name="step-02">
            <a:extLst>
              <a:ext uri="{FF2B5EF4-FFF2-40B4-BE49-F238E27FC236}">
                <a16:creationId xmlns:a16="http://schemas.microsoft.com/office/drawing/2014/main" id="{535E8ED8-744E-F101-5421-3C4F9ED7ABEC}"/>
              </a:ext>
            </a:extLst>
          </p:cNvPr>
          <p:cNvSpPr>
            <a:spLocks noGrp="1"/>
          </p:cNvSpPr>
          <p:nvPr/>
        </p:nvSpPr>
        <p:spPr>
          <a:xfrm>
            <a:off x="3643393" y="4229100"/>
            <a:ext cx="1219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6B747C"/>
                </a:solidFill>
                <a:latin typeface="Aptos"/>
                <a:ea typeface="Aptos"/>
                <a:cs typeface="Aptos"/>
              </a:defRPr>
            </a:pPr>
            <a:r>
              <a:rPr lang="en-US" sz="1050" b="1" noProof="0" dirty="0">
                <a:solidFill>
                  <a:srgbClr val="6B747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5" name="node-Task-2255">
            <a:extLst>
              <a:ext uri="{FF2B5EF4-FFF2-40B4-BE49-F238E27FC236}">
                <a16:creationId xmlns:a16="http://schemas.microsoft.com/office/drawing/2014/main" id="{3AA044E1-A8E1-16C4-D358-477E38183ECE}"/>
              </a:ext>
            </a:extLst>
          </p:cNvPr>
          <p:cNvSpPr>
            <a:spLocks noGrp="1"/>
          </p:cNvSpPr>
          <p:nvPr/>
        </p:nvSpPr>
        <p:spPr>
          <a:xfrm>
            <a:off x="3586243" y="4572000"/>
            <a:ext cx="1333500" cy="13335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5B8D4"/>
            </a:solidFill>
            <a:prstDash val="solid"/>
          </a:ln>
        </p:spPr>
        <p:txBody>
          <a:bodyPr wrap="none" lIns="38100" tIns="38100" rIns="38100" bIns="38100" anchor="ctr">
            <a:noAutofit/>
          </a:bodyPr>
          <a:lstStyle/>
          <a:p>
            <a:pPr algn="ctr">
              <a:defRPr sz="2100" b="1">
                <a:solidFill>
                  <a:srgbClr val="22272B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2100" b="1" noProof="0" dirty="0">
                <a:solidFill>
                  <a:srgbClr val="22272B"/>
                </a:solidFill>
                <a:latin typeface="Aptos Display"/>
                <a:ea typeface="Aptos Display"/>
                <a:cs typeface="Aptos Display"/>
              </a:rPr>
              <a:t>4410</a:t>
            </a:r>
          </a:p>
        </p:txBody>
      </p:sp>
      <p:sp>
        <p:nvSpPr>
          <p:cNvPr id="46" name="label-Task 2255">
            <a:extLst>
              <a:ext uri="{FF2B5EF4-FFF2-40B4-BE49-F238E27FC236}">
                <a16:creationId xmlns:a16="http://schemas.microsoft.com/office/drawing/2014/main" id="{59327587-BFCA-5D88-4D6B-6F220994EC84}"/>
              </a:ext>
            </a:extLst>
          </p:cNvPr>
          <p:cNvSpPr>
            <a:spLocks noGrp="1"/>
          </p:cNvSpPr>
          <p:nvPr/>
        </p:nvSpPr>
        <p:spPr>
          <a:xfrm>
            <a:off x="3319543" y="6096000"/>
            <a:ext cx="1866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22272B"/>
                </a:solidFill>
                <a:latin typeface="Aptos"/>
                <a:ea typeface="Aptos"/>
                <a:cs typeface="Aptos"/>
              </a:defRPr>
            </a:pPr>
            <a:r>
              <a:rPr lang="en-US" sz="1500" b="1" noProof="0" dirty="0">
                <a:solidFill>
                  <a:srgbClr val="22272B"/>
                </a:solidFill>
                <a:latin typeface="Aptos"/>
                <a:ea typeface="Aptos"/>
                <a:cs typeface="Aptos"/>
              </a:rPr>
              <a:t>Story 2276</a:t>
            </a:r>
          </a:p>
        </p:txBody>
      </p:sp>
      <p:sp>
        <p:nvSpPr>
          <p:cNvPr id="47" name="role-datatables">
            <a:extLst>
              <a:ext uri="{FF2B5EF4-FFF2-40B4-BE49-F238E27FC236}">
                <a16:creationId xmlns:a16="http://schemas.microsoft.com/office/drawing/2014/main" id="{7913AC04-5B0D-C9C9-B7B9-CB2C7274613C}"/>
              </a:ext>
            </a:extLst>
          </p:cNvPr>
          <p:cNvSpPr>
            <a:spLocks noGrp="1"/>
          </p:cNvSpPr>
          <p:nvPr/>
        </p:nvSpPr>
        <p:spPr>
          <a:xfrm>
            <a:off x="3281443" y="6400800"/>
            <a:ext cx="19431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350">
                <a:solidFill>
                  <a:srgbClr val="6B747C"/>
                </a:solidFill>
                <a:latin typeface="Aptos"/>
                <a:ea typeface="Aptos"/>
                <a:cs typeface="Aptos"/>
              </a:defRPr>
            </a:pPr>
            <a:r>
              <a:rPr lang="en-US" sz="1350" dirty="0">
                <a:solidFill>
                  <a:srgbClr val="6B747C"/>
                </a:solidFill>
                <a:latin typeface="Aptos"/>
                <a:ea typeface="Aptos"/>
                <a:cs typeface="Aptos"/>
              </a:rPr>
              <a:t>collapsible panels &amp; datatables</a:t>
            </a:r>
          </a:p>
        </p:txBody>
      </p:sp>
      <p:sp>
        <p:nvSpPr>
          <p:cNvPr id="48" name="step-03">
            <a:extLst>
              <a:ext uri="{FF2B5EF4-FFF2-40B4-BE49-F238E27FC236}">
                <a16:creationId xmlns:a16="http://schemas.microsoft.com/office/drawing/2014/main" id="{C3CF2629-C25A-7D9B-610E-E23A5FBCBB01}"/>
              </a:ext>
            </a:extLst>
          </p:cNvPr>
          <p:cNvSpPr>
            <a:spLocks noGrp="1"/>
          </p:cNvSpPr>
          <p:nvPr/>
        </p:nvSpPr>
        <p:spPr>
          <a:xfrm>
            <a:off x="6325141" y="4229100"/>
            <a:ext cx="1219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6B747C"/>
                </a:solidFill>
                <a:latin typeface="Aptos"/>
                <a:ea typeface="Aptos"/>
                <a:cs typeface="Aptos"/>
              </a:defRPr>
            </a:pPr>
            <a:r>
              <a:rPr lang="en-US" sz="1050" b="1" noProof="0" dirty="0">
                <a:solidFill>
                  <a:srgbClr val="6B747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9" name="node-Task-4462">
            <a:extLst>
              <a:ext uri="{FF2B5EF4-FFF2-40B4-BE49-F238E27FC236}">
                <a16:creationId xmlns:a16="http://schemas.microsoft.com/office/drawing/2014/main" id="{9F0D0927-A362-0F23-4DA5-A5D7B30A7F43}"/>
              </a:ext>
            </a:extLst>
          </p:cNvPr>
          <p:cNvSpPr>
            <a:spLocks noGrp="1"/>
          </p:cNvSpPr>
          <p:nvPr/>
        </p:nvSpPr>
        <p:spPr>
          <a:xfrm>
            <a:off x="6253243" y="4572000"/>
            <a:ext cx="1333500" cy="13335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5B8D4"/>
            </a:solidFill>
            <a:prstDash val="solid"/>
          </a:ln>
        </p:spPr>
        <p:txBody>
          <a:bodyPr wrap="none" lIns="38100" tIns="38100" rIns="38100" bIns="38100" anchor="ctr">
            <a:noAutofit/>
          </a:bodyPr>
          <a:lstStyle/>
          <a:p>
            <a:pPr algn="ctr">
              <a:defRPr sz="2100" b="1">
                <a:solidFill>
                  <a:srgbClr val="22272B"/>
                </a:solidFill>
                <a:latin typeface="Aptos Display"/>
                <a:ea typeface="Aptos Display"/>
                <a:cs typeface="Aptos Display"/>
              </a:defRPr>
            </a:pPr>
            <a:r>
              <a:rPr lang="fr-BE" sz="2100" b="1" noProof="0" dirty="0">
                <a:solidFill>
                  <a:srgbClr val="22272B"/>
                </a:solidFill>
                <a:latin typeface="Aptos Display"/>
                <a:ea typeface="Aptos Display"/>
                <a:cs typeface="Aptos Display"/>
              </a:rPr>
              <a:t>?</a:t>
            </a:r>
            <a:endParaRPr lang="en-US" sz="2100" b="1" noProof="0" dirty="0">
              <a:solidFill>
                <a:srgbClr val="22272B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50" name="label-Task 4462">
            <a:extLst>
              <a:ext uri="{FF2B5EF4-FFF2-40B4-BE49-F238E27FC236}">
                <a16:creationId xmlns:a16="http://schemas.microsoft.com/office/drawing/2014/main" id="{232A5CDD-DC48-EC48-7BC8-DFD9147ED192}"/>
              </a:ext>
            </a:extLst>
          </p:cNvPr>
          <p:cNvSpPr>
            <a:spLocks noGrp="1"/>
          </p:cNvSpPr>
          <p:nvPr/>
        </p:nvSpPr>
        <p:spPr>
          <a:xfrm>
            <a:off x="5986543" y="6096000"/>
            <a:ext cx="1866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22272B"/>
                </a:solidFill>
                <a:latin typeface="Aptos"/>
                <a:ea typeface="Aptos"/>
                <a:cs typeface="Aptos"/>
              </a:defRPr>
            </a:pPr>
            <a:r>
              <a:rPr lang="en-US" sz="1500" b="1" noProof="0" dirty="0">
                <a:solidFill>
                  <a:srgbClr val="22272B"/>
                </a:solidFill>
                <a:latin typeface="Aptos"/>
                <a:ea typeface="Aptos"/>
                <a:cs typeface="Aptos"/>
              </a:rPr>
              <a:t>Story</a:t>
            </a:r>
          </a:p>
        </p:txBody>
      </p:sp>
      <p:sp>
        <p:nvSpPr>
          <p:cNvPr id="51" name="role-export">
            <a:extLst>
              <a:ext uri="{FF2B5EF4-FFF2-40B4-BE49-F238E27FC236}">
                <a16:creationId xmlns:a16="http://schemas.microsoft.com/office/drawing/2014/main" id="{E587C642-ED73-214E-6DF1-A34FF6E4DA20}"/>
              </a:ext>
            </a:extLst>
          </p:cNvPr>
          <p:cNvSpPr>
            <a:spLocks noGrp="1"/>
          </p:cNvSpPr>
          <p:nvPr/>
        </p:nvSpPr>
        <p:spPr>
          <a:xfrm>
            <a:off x="5948443" y="6400800"/>
            <a:ext cx="19431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350">
                <a:solidFill>
                  <a:srgbClr val="6B747C"/>
                </a:solidFill>
                <a:latin typeface="Aptos"/>
                <a:ea typeface="Aptos"/>
                <a:cs typeface="Aptos"/>
              </a:defRPr>
            </a:pPr>
            <a:r>
              <a:rPr lang="en-US" sz="1350" dirty="0">
                <a:solidFill>
                  <a:srgbClr val="6B747C"/>
                </a:solidFill>
                <a:latin typeface="Aptos"/>
                <a:ea typeface="Aptos"/>
                <a:cs typeface="Aptos"/>
              </a:rPr>
              <a:t>combine statuses</a:t>
            </a:r>
          </a:p>
          <a:p>
            <a:pPr algn="ctr">
              <a:defRPr sz="1350">
                <a:solidFill>
                  <a:srgbClr val="6B747C"/>
                </a:solidFill>
                <a:latin typeface="Aptos"/>
                <a:ea typeface="Aptos"/>
                <a:cs typeface="Aptos"/>
              </a:defRPr>
            </a:pPr>
            <a:endParaRPr lang="en-US" sz="1350" noProof="0" dirty="0">
              <a:solidFill>
                <a:srgbClr val="6B747C"/>
              </a:solidFill>
              <a:latin typeface="Aptos"/>
              <a:ea typeface="Aptos"/>
              <a:cs typeface="Aptos"/>
            </a:endParaRP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50F1C8A7-6270-5151-F522-88AE43F99FA8}"/>
              </a:ext>
            </a:extLst>
          </p:cNvPr>
          <p:cNvCxnSpPr>
            <a:stCxn id="45" idx="6"/>
            <a:endCxn id="49" idx="2"/>
          </p:cNvCxnSpPr>
          <p:nvPr/>
        </p:nvCxnSpPr>
        <p:spPr>
          <a:xfrm>
            <a:off x="4919743" y="5238750"/>
            <a:ext cx="1333500" cy="0"/>
          </a:xfrm>
          <a:prstGeom prst="straightConnector1">
            <a:avLst/>
          </a:prstGeom>
          <a:ln w="47625" cap="rnd">
            <a:solidFill>
              <a:srgbClr val="A9DDE5"/>
            </a:solidFill>
            <a:prstDash val="solid"/>
            <a:tailEnd type="arrow" w="med" len="med"/>
          </a:ln>
        </p:spPr>
      </p:cxnSp>
      <p:sp>
        <p:nvSpPr>
          <p:cNvPr id="60" name="eyebrow">
            <a:extLst>
              <a:ext uri="{FF2B5EF4-FFF2-40B4-BE49-F238E27FC236}">
                <a16:creationId xmlns:a16="http://schemas.microsoft.com/office/drawing/2014/main" id="{13777B5A-87FD-A9B7-01EF-F51E157CA819}"/>
              </a:ext>
            </a:extLst>
          </p:cNvPr>
          <p:cNvSpPr>
            <a:spLocks noGrp="1"/>
          </p:cNvSpPr>
          <p:nvPr/>
        </p:nvSpPr>
        <p:spPr>
          <a:xfrm>
            <a:off x="222775" y="3568263"/>
            <a:ext cx="5158741" cy="94658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B8D4"/>
                </a:solidFill>
                <a:latin typeface="Aptos"/>
                <a:ea typeface="Aptos"/>
                <a:cs typeface="Aptos"/>
              </a:defRPr>
            </a:pPr>
            <a:r>
              <a:rPr lang="en-US" sz="2800" b="1" noProof="0" dirty="0">
                <a:solidFill>
                  <a:srgbClr val="15B8D4"/>
                </a:solidFill>
                <a:latin typeface="Aptos"/>
                <a:ea typeface="Aptos"/>
                <a:cs typeface="Aptos"/>
              </a:rPr>
              <a:t>pH Interface: UX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BCAC9A18-B08A-42F4-A500-DE5F6C964460}"/>
              </a:ext>
            </a:extLst>
          </p:cNvPr>
          <p:cNvSpPr>
            <a:spLocks noGrp="1"/>
          </p:cNvSpPr>
          <p:nvPr/>
        </p:nvSpPr>
        <p:spPr>
          <a:xfrm>
            <a:off x="3775588" y="5242"/>
            <a:ext cx="8416411" cy="94658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>
              <a:defRPr sz="1125" b="1">
                <a:solidFill>
                  <a:srgbClr val="15B8D4"/>
                </a:solidFill>
                <a:latin typeface="Aptos"/>
                <a:ea typeface="Aptos"/>
                <a:cs typeface="Aptos"/>
              </a:defRPr>
            </a:pPr>
            <a:r>
              <a:rPr lang="en-US" sz="2400" b="1" dirty="0"/>
              <a:t>Harmonize look and feel of any </a:t>
            </a:r>
            <a:r>
              <a:rPr lang="en-US" sz="2400" b="1" dirty="0" err="1"/>
              <a:t>GxP</a:t>
            </a:r>
            <a:r>
              <a:rPr lang="en-US" sz="2400" b="1" dirty="0"/>
              <a:t> measurement external action</a:t>
            </a:r>
            <a:endParaRPr lang="en-US" sz="2400" b="1" noProof="0" dirty="0">
              <a:solidFill>
                <a:srgbClr val="15B8D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step-03">
            <a:extLst>
              <a:ext uri="{FF2B5EF4-FFF2-40B4-BE49-F238E27FC236}">
                <a16:creationId xmlns:a16="http://schemas.microsoft.com/office/drawing/2014/main" id="{CCE13719-6C6A-6B90-B7BA-C53F754FD82D}"/>
              </a:ext>
            </a:extLst>
          </p:cNvPr>
          <p:cNvSpPr>
            <a:spLocks noGrp="1"/>
          </p:cNvSpPr>
          <p:nvPr/>
        </p:nvSpPr>
        <p:spPr>
          <a:xfrm>
            <a:off x="8867173" y="1022519"/>
            <a:ext cx="1219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6B747C"/>
                </a:solidFill>
                <a:latin typeface="Aptos"/>
                <a:ea typeface="Aptos"/>
                <a:cs typeface="Aptos"/>
              </a:defRPr>
            </a:pPr>
            <a:r>
              <a:rPr lang="en-US" sz="1050" b="1" noProof="0" dirty="0">
                <a:solidFill>
                  <a:srgbClr val="6B747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4" name="node-Task-4462">
            <a:extLst>
              <a:ext uri="{FF2B5EF4-FFF2-40B4-BE49-F238E27FC236}">
                <a16:creationId xmlns:a16="http://schemas.microsoft.com/office/drawing/2014/main" id="{0E17AFC7-E366-F971-E0DF-312080308988}"/>
              </a:ext>
            </a:extLst>
          </p:cNvPr>
          <p:cNvSpPr>
            <a:spLocks noGrp="1"/>
          </p:cNvSpPr>
          <p:nvPr/>
        </p:nvSpPr>
        <p:spPr>
          <a:xfrm>
            <a:off x="8795275" y="1365419"/>
            <a:ext cx="1333500" cy="13335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5B8D4"/>
            </a:solidFill>
            <a:prstDash val="solid"/>
          </a:ln>
        </p:spPr>
        <p:txBody>
          <a:bodyPr wrap="none" lIns="38100" tIns="38100" rIns="38100" bIns="38100" anchor="ctr">
            <a:noAutofit/>
          </a:bodyPr>
          <a:lstStyle/>
          <a:p>
            <a:pPr algn="ctr">
              <a:defRPr sz="2100" b="1">
                <a:solidFill>
                  <a:srgbClr val="22272B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2100" b="1" noProof="0" dirty="0">
                <a:solidFill>
                  <a:srgbClr val="22272B"/>
                </a:solidFill>
                <a:latin typeface="Aptos Display"/>
                <a:ea typeface="Aptos Display"/>
                <a:cs typeface="Aptos Display"/>
              </a:rPr>
              <a:t>?</a:t>
            </a:r>
          </a:p>
        </p:txBody>
      </p:sp>
      <p:sp>
        <p:nvSpPr>
          <p:cNvPr id="25" name="label-Task 4462">
            <a:extLst>
              <a:ext uri="{FF2B5EF4-FFF2-40B4-BE49-F238E27FC236}">
                <a16:creationId xmlns:a16="http://schemas.microsoft.com/office/drawing/2014/main" id="{C41214E9-C661-2621-F900-38C705DE666E}"/>
              </a:ext>
            </a:extLst>
          </p:cNvPr>
          <p:cNvSpPr>
            <a:spLocks noGrp="1"/>
          </p:cNvSpPr>
          <p:nvPr/>
        </p:nvSpPr>
        <p:spPr>
          <a:xfrm>
            <a:off x="8528575" y="2889419"/>
            <a:ext cx="1866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22272B"/>
                </a:solidFill>
                <a:latin typeface="Aptos"/>
                <a:ea typeface="Aptos"/>
                <a:cs typeface="Aptos"/>
              </a:defRPr>
            </a:pPr>
            <a:r>
              <a:rPr lang="en-US" sz="1500" b="1" noProof="0" dirty="0">
                <a:solidFill>
                  <a:srgbClr val="22272B"/>
                </a:solidFill>
                <a:latin typeface="Aptos"/>
                <a:ea typeface="Aptos"/>
                <a:cs typeface="Aptos"/>
              </a:rPr>
              <a:t>Story ?</a:t>
            </a:r>
          </a:p>
        </p:txBody>
      </p:sp>
      <p:sp>
        <p:nvSpPr>
          <p:cNvPr id="27" name="role-export">
            <a:extLst>
              <a:ext uri="{FF2B5EF4-FFF2-40B4-BE49-F238E27FC236}">
                <a16:creationId xmlns:a16="http://schemas.microsoft.com/office/drawing/2014/main" id="{2354D09B-B69F-84B2-6994-D9BEC3DB2068}"/>
              </a:ext>
            </a:extLst>
          </p:cNvPr>
          <p:cNvSpPr>
            <a:spLocks noGrp="1"/>
          </p:cNvSpPr>
          <p:nvPr/>
        </p:nvSpPr>
        <p:spPr>
          <a:xfrm>
            <a:off x="8490475" y="3194219"/>
            <a:ext cx="19431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350">
                <a:solidFill>
                  <a:srgbClr val="6B747C"/>
                </a:solidFill>
                <a:latin typeface="Aptos"/>
                <a:ea typeface="Aptos"/>
                <a:cs typeface="Aptos"/>
              </a:defRPr>
            </a:pPr>
            <a:r>
              <a:rPr lang="en-US" sz="1350" dirty="0">
                <a:solidFill>
                  <a:srgbClr val="6B747C"/>
                </a:solidFill>
                <a:latin typeface="Aptos"/>
                <a:ea typeface="Aptos"/>
                <a:cs typeface="Aptos"/>
              </a:rPr>
              <a:t>combine statuses</a:t>
            </a:r>
          </a:p>
          <a:p>
            <a:pPr algn="ctr">
              <a:defRPr sz="1350">
                <a:solidFill>
                  <a:srgbClr val="6B747C"/>
                </a:solidFill>
                <a:latin typeface="Aptos"/>
                <a:ea typeface="Aptos"/>
                <a:cs typeface="Aptos"/>
              </a:defRPr>
            </a:pPr>
            <a:endParaRPr lang="en-US" sz="1350" dirty="0">
              <a:solidFill>
                <a:srgbClr val="6B747C"/>
              </a:solidFill>
              <a:latin typeface="Aptos"/>
              <a:ea typeface="Aptos"/>
              <a:cs typeface="Aptos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9FCD994-FF34-B53F-79AA-C6E0D1EAD162}"/>
              </a:ext>
            </a:extLst>
          </p:cNvPr>
          <p:cNvCxnSpPr>
            <a:endCxn id="24" idx="2"/>
          </p:cNvCxnSpPr>
          <p:nvPr/>
        </p:nvCxnSpPr>
        <p:spPr>
          <a:xfrm>
            <a:off x="7461775" y="2032169"/>
            <a:ext cx="1333500" cy="0"/>
          </a:xfrm>
          <a:prstGeom prst="straightConnector1">
            <a:avLst/>
          </a:prstGeom>
          <a:ln w="47625" cap="rnd">
            <a:solidFill>
              <a:srgbClr val="A9DDE5"/>
            </a:solidFill>
            <a:prstDash val="solid"/>
            <a:tailEnd type="arrow" w="med" len="med"/>
          </a:ln>
        </p:spPr>
      </p:cxnSp>
    </p:spTree>
    <p:extLst>
      <p:ext uri="{BB962C8B-B14F-4D97-AF65-F5344CB8AC3E}">
        <p14:creationId xmlns:p14="http://schemas.microsoft.com/office/powerpoint/2010/main" val="181110224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ca48ea3-8c75-4d36-b64f-70604b11fd22}" enabled="1" method="Standard" siteId="{3ac94b33-9135-4821-9502-eafda6592a35}" contentBits="0" removed="0"/>
  <clbl:label id="{c5e6e129-f928-4a05-ae32-d838f6b21bdd}" enabled="1" method="Standard" siteId="{8b87af7d-8647-4dc7-8df4-5f69a2011bb5}" contentBits="3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54</Words>
  <Application>Microsoft Office PowerPoint</Application>
  <PresentationFormat>Widescreen</PresentationFormat>
  <Paragraphs>23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Tahoma</vt:lpstr>
      <vt:lpstr>ChatGPT</vt:lpstr>
      <vt:lpstr>PowerPoint Presentation</vt:lpstr>
    </vt:vector>
  </TitlesOfParts>
  <Company>Sopra Steria Group S.A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VANNESTE, Manu</dc:creator>
  <cp:lastModifiedBy>Vanneste, Manu [JRDBE NON-J&amp;J]</cp:lastModifiedBy>
  <cp:revision>5</cp:revision>
  <dcterms:created xsi:type="dcterms:W3CDTF">2026-08-17T11:28:39Z</dcterms:created>
  <dcterms:modified xsi:type="dcterms:W3CDTF">2026-08-17T13:17:50Z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ChatGPT:3</vt:lpwstr>
  </property>
  <property fmtid="{D5CDD505-2E9C-101B-9397-08002B2CF9AE}" pid="3" name="ClassificationContentMarkingFooterText">
    <vt:lpwstr>C2 - Restricted use </vt:lpwstr>
  </property>
</Properties>
</file>